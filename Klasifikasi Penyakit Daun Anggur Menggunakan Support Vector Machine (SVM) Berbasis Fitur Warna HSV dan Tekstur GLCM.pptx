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Droid Serif" panose="020B0604020202020204" charset="0"/>
      <p:regular r:id="rId34"/>
    </p:embeddedFont>
    <p:embeddedFont>
      <p:font typeface="Droid Serif Bold" panose="020B0604020202020204" charset="0"/>
      <p:regular r:id="rId35"/>
    </p:embeddedFont>
    <p:embeddedFont>
      <p:font typeface="Pony Club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8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url?q=https%3A%2F%2Fwww.kaggle.com%2F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131" y="491312"/>
            <a:ext cx="17369738" cy="9304375"/>
            <a:chOff x="0" y="0"/>
            <a:chExt cx="4574746" cy="2450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4746" cy="2450535"/>
            </a:xfrm>
            <a:custGeom>
              <a:avLst/>
              <a:gdLst/>
              <a:ahLst/>
              <a:cxnLst/>
              <a:rect l="l" t="t" r="r" b="b"/>
              <a:pathLst>
                <a:path w="4574746" h="2450535">
                  <a:moveTo>
                    <a:pt x="22731" y="0"/>
                  </a:moveTo>
                  <a:lnTo>
                    <a:pt x="4552015" y="0"/>
                  </a:lnTo>
                  <a:cubicBezTo>
                    <a:pt x="4564569" y="0"/>
                    <a:pt x="4574746" y="10177"/>
                    <a:pt x="4574746" y="22731"/>
                  </a:cubicBezTo>
                  <a:lnTo>
                    <a:pt x="4574746" y="2427804"/>
                  </a:lnTo>
                  <a:cubicBezTo>
                    <a:pt x="4574746" y="2440358"/>
                    <a:pt x="4564569" y="2450535"/>
                    <a:pt x="4552015" y="2450535"/>
                  </a:cubicBezTo>
                  <a:lnTo>
                    <a:pt x="22731" y="2450535"/>
                  </a:lnTo>
                  <a:cubicBezTo>
                    <a:pt x="10177" y="2450535"/>
                    <a:pt x="0" y="2440358"/>
                    <a:pt x="0" y="2427804"/>
                  </a:cubicBezTo>
                  <a:lnTo>
                    <a:pt x="0" y="22731"/>
                  </a:lnTo>
                  <a:cubicBezTo>
                    <a:pt x="0" y="10177"/>
                    <a:pt x="10177" y="0"/>
                    <a:pt x="22731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74746" cy="249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23681" y="-285136"/>
            <a:ext cx="2264319" cy="4869503"/>
          </a:xfrm>
          <a:custGeom>
            <a:avLst/>
            <a:gdLst/>
            <a:ahLst/>
            <a:cxnLst/>
            <a:rect l="l" t="t" r="r" b="b"/>
            <a:pathLst>
              <a:path w="2264319" h="4869503">
                <a:moveTo>
                  <a:pt x="0" y="0"/>
                </a:moveTo>
                <a:lnTo>
                  <a:pt x="2264319" y="0"/>
                </a:lnTo>
                <a:lnTo>
                  <a:pt x="2264319" y="4869503"/>
                </a:lnTo>
                <a:lnTo>
                  <a:pt x="0" y="4869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67979" flipH="1">
            <a:off x="-890825" y="1377994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11578">
            <a:off x="-783073" y="2209461"/>
            <a:ext cx="2605817" cy="5603908"/>
          </a:xfrm>
          <a:custGeom>
            <a:avLst/>
            <a:gdLst/>
            <a:ahLst/>
            <a:cxnLst/>
            <a:rect l="l" t="t" r="r" b="b"/>
            <a:pathLst>
              <a:path w="2605817" h="5603908">
                <a:moveTo>
                  <a:pt x="0" y="0"/>
                </a:moveTo>
                <a:lnTo>
                  <a:pt x="2605818" y="0"/>
                </a:lnTo>
                <a:lnTo>
                  <a:pt x="2605818" y="5603909"/>
                </a:lnTo>
                <a:lnTo>
                  <a:pt x="0" y="5603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218246" flipH="1">
            <a:off x="3515396" y="7718266"/>
            <a:ext cx="2395873" cy="1701070"/>
          </a:xfrm>
          <a:custGeom>
            <a:avLst/>
            <a:gdLst/>
            <a:ahLst/>
            <a:cxnLst/>
            <a:rect l="l" t="t" r="r" b="b"/>
            <a:pathLst>
              <a:path w="2395873" h="1701070">
                <a:moveTo>
                  <a:pt x="2395874" y="0"/>
                </a:moveTo>
                <a:lnTo>
                  <a:pt x="0" y="0"/>
                </a:lnTo>
                <a:lnTo>
                  <a:pt x="0" y="1701070"/>
                </a:lnTo>
                <a:lnTo>
                  <a:pt x="2395874" y="1701070"/>
                </a:lnTo>
                <a:lnTo>
                  <a:pt x="239587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3970422" y="-58605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8"/>
                </a:moveTo>
                <a:lnTo>
                  <a:pt x="0" y="3229508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03607">
            <a:off x="14466374" y="7558203"/>
            <a:ext cx="1098149" cy="779686"/>
          </a:xfrm>
          <a:custGeom>
            <a:avLst/>
            <a:gdLst/>
            <a:ahLst/>
            <a:cxnLst/>
            <a:rect l="l" t="t" r="r" b="b"/>
            <a:pathLst>
              <a:path w="1098149" h="779686">
                <a:moveTo>
                  <a:pt x="0" y="0"/>
                </a:moveTo>
                <a:lnTo>
                  <a:pt x="1098149" y="0"/>
                </a:lnTo>
                <a:lnTo>
                  <a:pt x="1098149" y="779686"/>
                </a:lnTo>
                <a:lnTo>
                  <a:pt x="0" y="779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903607">
            <a:off x="6267466" y="-565600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5" y="0"/>
                </a:lnTo>
                <a:lnTo>
                  <a:pt x="2392775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764828">
            <a:off x="16227230" y="-417676"/>
            <a:ext cx="2676708" cy="1900463"/>
          </a:xfrm>
          <a:custGeom>
            <a:avLst/>
            <a:gdLst/>
            <a:ahLst/>
            <a:cxnLst/>
            <a:rect l="l" t="t" r="r" b="b"/>
            <a:pathLst>
              <a:path w="2676708" h="1900463">
                <a:moveTo>
                  <a:pt x="0" y="0"/>
                </a:moveTo>
                <a:lnTo>
                  <a:pt x="2676709" y="0"/>
                </a:lnTo>
                <a:lnTo>
                  <a:pt x="2676709" y="1900463"/>
                </a:lnTo>
                <a:lnTo>
                  <a:pt x="0" y="1900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700000" flipH="1">
            <a:off x="6663011" y="8743929"/>
            <a:ext cx="3188937" cy="2264145"/>
          </a:xfrm>
          <a:custGeom>
            <a:avLst/>
            <a:gdLst/>
            <a:ahLst/>
            <a:cxnLst/>
            <a:rect l="l" t="t" r="r" b="b"/>
            <a:pathLst>
              <a:path w="3188937" h="2264145">
                <a:moveTo>
                  <a:pt x="3188937" y="0"/>
                </a:moveTo>
                <a:lnTo>
                  <a:pt x="0" y="0"/>
                </a:lnTo>
                <a:lnTo>
                  <a:pt x="0" y="2264145"/>
                </a:lnTo>
                <a:lnTo>
                  <a:pt x="3188937" y="2264145"/>
                </a:lnTo>
                <a:lnTo>
                  <a:pt x="318893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34771" y="2490787"/>
            <a:ext cx="12518769" cy="529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Klasifikasi Penyakit Daun Anggur Menggunakan Support Vector Machine (SVM) Berbasis Fitur Warna HSV dan Tekstur GLCM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5939" y="8108392"/>
            <a:ext cx="809612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Khoirotun Nisa</a:t>
            </a:r>
          </a:p>
        </p:txBody>
      </p:sp>
      <p:sp>
        <p:nvSpPr>
          <p:cNvPr id="17" name="Freeform 17"/>
          <p:cNvSpPr/>
          <p:nvPr/>
        </p:nvSpPr>
        <p:spPr>
          <a:xfrm rot="-1571621" flipH="1">
            <a:off x="838855" y="7746387"/>
            <a:ext cx="2787121" cy="3561816"/>
          </a:xfrm>
          <a:custGeom>
            <a:avLst/>
            <a:gdLst/>
            <a:ahLst/>
            <a:cxnLst/>
            <a:rect l="l" t="t" r="r" b="b"/>
            <a:pathLst>
              <a:path w="2787121" h="3561816">
                <a:moveTo>
                  <a:pt x="2787121" y="0"/>
                </a:moveTo>
                <a:lnTo>
                  <a:pt x="0" y="0"/>
                </a:lnTo>
                <a:lnTo>
                  <a:pt x="0" y="3561816"/>
                </a:lnTo>
                <a:lnTo>
                  <a:pt x="2787121" y="3561816"/>
                </a:lnTo>
                <a:lnTo>
                  <a:pt x="278712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571621">
            <a:off x="16081461" y="6446410"/>
            <a:ext cx="2972517" cy="3798743"/>
          </a:xfrm>
          <a:custGeom>
            <a:avLst/>
            <a:gdLst/>
            <a:ahLst/>
            <a:cxnLst/>
            <a:rect l="l" t="t" r="r" b="b"/>
            <a:pathLst>
              <a:path w="2972517" h="3798743">
                <a:moveTo>
                  <a:pt x="0" y="0"/>
                </a:moveTo>
                <a:lnTo>
                  <a:pt x="2972517" y="0"/>
                </a:lnTo>
                <a:lnTo>
                  <a:pt x="2972517" y="3798743"/>
                </a:lnTo>
                <a:lnTo>
                  <a:pt x="0" y="379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35477" y="1104900"/>
            <a:ext cx="1361704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Problem &amp; Objective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46153" y="4180976"/>
            <a:ext cx="5359010" cy="437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3"/>
              </a:lnSpc>
            </a:pPr>
            <a:r>
              <a:rPr lang="en-US" sz="2599" b="1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Problem Statement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Penyakit daun anggur sulit dibedakan secara visual manual. Diperlukan sistem otomatis berbasis citra Menggunakan Computer Vision: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HSV (warna)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GLCM (tekstur) 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SVM (klasifikasi)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2837" y="4180976"/>
            <a:ext cx="5359010" cy="340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599" b="1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Objective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Membangun model untuk mengklasifikasikan: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Black Measles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Black Rot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Healthy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Isariopsis Leaf Spot</a:t>
            </a:r>
          </a:p>
        </p:txBody>
      </p:sp>
      <p:sp>
        <p:nvSpPr>
          <p:cNvPr id="15" name="Freeform 15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35477" y="1104900"/>
            <a:ext cx="1361704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Alur Metode yang diterapkan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16033" y="4106935"/>
            <a:ext cx="5359010" cy="402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Load dataset gambar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Labeling data (berdasarkan folder/nama)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Ekstraksi fitur:</a:t>
            </a:r>
          </a:p>
          <a:p>
            <a:pPr marL="561339" lvl="1" indent="-280669" algn="just">
              <a:lnSpc>
                <a:spcPts val="400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HSV (warna)</a:t>
            </a:r>
          </a:p>
          <a:p>
            <a:pPr marL="561339" lvl="1" indent="-280669" algn="just">
              <a:lnSpc>
                <a:spcPts val="400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GLCM (tekstur)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Pembentukan dataset (DataFrame)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6594" y="4187630"/>
            <a:ext cx="5359010" cy="250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Encoding label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Split data (80:20)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Normalisasi (StandardScaler)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Training SVM + GridSearch</a:t>
            </a:r>
          </a:p>
          <a:p>
            <a:pPr marL="561339" lvl="1" indent="-280669" algn="l">
              <a:lnSpc>
                <a:spcPts val="4003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Evaluasi model</a:t>
            </a:r>
          </a:p>
        </p:txBody>
      </p:sp>
      <p:sp>
        <p:nvSpPr>
          <p:cNvPr id="15" name="Freeform 15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131" y="2979214"/>
            <a:ext cx="17369738" cy="6508980"/>
            <a:chOff x="0" y="0"/>
            <a:chExt cx="4574746" cy="17142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4746" cy="1714299"/>
            </a:xfrm>
            <a:custGeom>
              <a:avLst/>
              <a:gdLst/>
              <a:ahLst/>
              <a:cxnLst/>
              <a:rect l="l" t="t" r="r" b="b"/>
              <a:pathLst>
                <a:path w="4574746" h="1714299">
                  <a:moveTo>
                    <a:pt x="22731" y="0"/>
                  </a:moveTo>
                  <a:lnTo>
                    <a:pt x="4552015" y="0"/>
                  </a:lnTo>
                  <a:cubicBezTo>
                    <a:pt x="4564569" y="0"/>
                    <a:pt x="4574746" y="10177"/>
                    <a:pt x="4574746" y="22731"/>
                  </a:cubicBezTo>
                  <a:lnTo>
                    <a:pt x="4574746" y="1691568"/>
                  </a:lnTo>
                  <a:cubicBezTo>
                    <a:pt x="4574746" y="1704122"/>
                    <a:pt x="4564569" y="1714299"/>
                    <a:pt x="4552015" y="1714299"/>
                  </a:cubicBezTo>
                  <a:lnTo>
                    <a:pt x="22731" y="1714299"/>
                  </a:lnTo>
                  <a:cubicBezTo>
                    <a:pt x="10177" y="1714299"/>
                    <a:pt x="0" y="1704122"/>
                    <a:pt x="0" y="1691568"/>
                  </a:cubicBezTo>
                  <a:lnTo>
                    <a:pt x="0" y="22731"/>
                  </a:lnTo>
                  <a:cubicBezTo>
                    <a:pt x="0" y="10177"/>
                    <a:pt x="10177" y="0"/>
                    <a:pt x="22731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74746" cy="1761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96710" y="1433939"/>
            <a:ext cx="2264319" cy="4869503"/>
          </a:xfrm>
          <a:custGeom>
            <a:avLst/>
            <a:gdLst/>
            <a:ahLst/>
            <a:cxnLst/>
            <a:rect l="l" t="t" r="r" b="b"/>
            <a:pathLst>
              <a:path w="2264319" h="4869503">
                <a:moveTo>
                  <a:pt x="0" y="0"/>
                </a:moveTo>
                <a:lnTo>
                  <a:pt x="2264319" y="0"/>
                </a:lnTo>
                <a:lnTo>
                  <a:pt x="2264319" y="4869503"/>
                </a:lnTo>
                <a:lnTo>
                  <a:pt x="0" y="4869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67979" flipH="1">
            <a:off x="209909" y="-838164"/>
            <a:ext cx="2131081" cy="1513067"/>
          </a:xfrm>
          <a:custGeom>
            <a:avLst/>
            <a:gdLst/>
            <a:ahLst/>
            <a:cxnLst/>
            <a:rect l="l" t="t" r="r" b="b"/>
            <a:pathLst>
              <a:path w="2131081" h="1513067">
                <a:moveTo>
                  <a:pt x="2131081" y="0"/>
                </a:moveTo>
                <a:lnTo>
                  <a:pt x="0" y="0"/>
                </a:lnTo>
                <a:lnTo>
                  <a:pt x="0" y="1513068"/>
                </a:lnTo>
                <a:lnTo>
                  <a:pt x="2131081" y="1513068"/>
                </a:lnTo>
                <a:lnTo>
                  <a:pt x="213108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11578">
            <a:off x="-278873" y="-458199"/>
            <a:ext cx="1746827" cy="3756618"/>
          </a:xfrm>
          <a:custGeom>
            <a:avLst/>
            <a:gdLst/>
            <a:ahLst/>
            <a:cxnLst/>
            <a:rect l="l" t="t" r="r" b="b"/>
            <a:pathLst>
              <a:path w="1746827" h="3756618">
                <a:moveTo>
                  <a:pt x="0" y="0"/>
                </a:moveTo>
                <a:lnTo>
                  <a:pt x="1746827" y="0"/>
                </a:lnTo>
                <a:lnTo>
                  <a:pt x="1746827" y="3756618"/>
                </a:lnTo>
                <a:lnTo>
                  <a:pt x="0" y="3756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764828">
            <a:off x="16791664" y="-458919"/>
            <a:ext cx="2676708" cy="1900463"/>
          </a:xfrm>
          <a:custGeom>
            <a:avLst/>
            <a:gdLst/>
            <a:ahLst/>
            <a:cxnLst/>
            <a:rect l="l" t="t" r="r" b="b"/>
            <a:pathLst>
              <a:path w="2676708" h="1900463">
                <a:moveTo>
                  <a:pt x="0" y="0"/>
                </a:moveTo>
                <a:lnTo>
                  <a:pt x="2676708" y="0"/>
                </a:lnTo>
                <a:lnTo>
                  <a:pt x="2676708" y="1900463"/>
                </a:lnTo>
                <a:lnTo>
                  <a:pt x="0" y="1900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085793" y="-508364"/>
            <a:ext cx="2151916" cy="2750053"/>
          </a:xfrm>
          <a:custGeom>
            <a:avLst/>
            <a:gdLst/>
            <a:ahLst/>
            <a:cxnLst/>
            <a:rect l="l" t="t" r="r" b="b"/>
            <a:pathLst>
              <a:path w="2151916" h="2750053">
                <a:moveTo>
                  <a:pt x="0" y="2750053"/>
                </a:moveTo>
                <a:lnTo>
                  <a:pt x="2151917" y="2750053"/>
                </a:lnTo>
                <a:lnTo>
                  <a:pt x="2151917" y="0"/>
                </a:lnTo>
                <a:lnTo>
                  <a:pt x="0" y="0"/>
                </a:lnTo>
                <a:lnTo>
                  <a:pt x="0" y="27500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81023" flipH="1">
            <a:off x="3559856" y="-773312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2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2" y="2529249"/>
                </a:lnTo>
                <a:lnTo>
                  <a:pt x="35623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71807" flipH="1">
            <a:off x="-939793" y="7369413"/>
            <a:ext cx="2678636" cy="3423177"/>
          </a:xfrm>
          <a:custGeom>
            <a:avLst/>
            <a:gdLst/>
            <a:ahLst/>
            <a:cxnLst/>
            <a:rect l="l" t="t" r="r" b="b"/>
            <a:pathLst>
              <a:path w="2678636" h="3423177">
                <a:moveTo>
                  <a:pt x="2678636" y="0"/>
                </a:moveTo>
                <a:lnTo>
                  <a:pt x="0" y="0"/>
                </a:lnTo>
                <a:lnTo>
                  <a:pt x="0" y="3423177"/>
                </a:lnTo>
                <a:lnTo>
                  <a:pt x="2678636" y="3423177"/>
                </a:lnTo>
                <a:lnTo>
                  <a:pt x="267863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146120" y="3868690"/>
            <a:ext cx="10769045" cy="3511328"/>
            <a:chOff x="0" y="0"/>
            <a:chExt cx="4990761" cy="16272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0761" cy="1627275"/>
            </a:xfrm>
            <a:custGeom>
              <a:avLst/>
              <a:gdLst/>
              <a:ahLst/>
              <a:cxnLst/>
              <a:rect l="l" t="t" r="r" b="b"/>
              <a:pathLst>
                <a:path w="4990761" h="1627275">
                  <a:moveTo>
                    <a:pt x="29475" y="0"/>
                  </a:moveTo>
                  <a:lnTo>
                    <a:pt x="4961286" y="0"/>
                  </a:lnTo>
                  <a:cubicBezTo>
                    <a:pt x="4969103" y="0"/>
                    <a:pt x="4976600" y="3105"/>
                    <a:pt x="4982128" y="8633"/>
                  </a:cubicBezTo>
                  <a:cubicBezTo>
                    <a:pt x="4987656" y="14161"/>
                    <a:pt x="4990761" y="21658"/>
                    <a:pt x="4990761" y="29475"/>
                  </a:cubicBezTo>
                  <a:lnTo>
                    <a:pt x="4990761" y="1597800"/>
                  </a:lnTo>
                  <a:cubicBezTo>
                    <a:pt x="4990761" y="1614079"/>
                    <a:pt x="4977565" y="1627275"/>
                    <a:pt x="4961286" y="1627275"/>
                  </a:cubicBezTo>
                  <a:lnTo>
                    <a:pt x="29475" y="1627275"/>
                  </a:lnTo>
                  <a:cubicBezTo>
                    <a:pt x="21658" y="1627275"/>
                    <a:pt x="14161" y="1624170"/>
                    <a:pt x="8633" y="1618642"/>
                  </a:cubicBezTo>
                  <a:cubicBezTo>
                    <a:pt x="3105" y="1613114"/>
                    <a:pt x="0" y="1605617"/>
                    <a:pt x="0" y="1597800"/>
                  </a:cubicBezTo>
                  <a:lnTo>
                    <a:pt x="0" y="29475"/>
                  </a:lnTo>
                  <a:cubicBezTo>
                    <a:pt x="0" y="21658"/>
                    <a:pt x="3105" y="14161"/>
                    <a:pt x="8633" y="8633"/>
                  </a:cubicBezTo>
                  <a:cubicBezTo>
                    <a:pt x="14161" y="3105"/>
                    <a:pt x="21658" y="0"/>
                    <a:pt x="29475" y="0"/>
                  </a:cubicBezTo>
                  <a:close/>
                </a:path>
              </a:pathLst>
            </a:custGeom>
            <a:blipFill>
              <a:blip r:embed="rId5"/>
              <a:stretch>
                <a:fillRect l="-3094" r="-280411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-1571621">
            <a:off x="16081461" y="6446410"/>
            <a:ext cx="2972517" cy="3798743"/>
          </a:xfrm>
          <a:custGeom>
            <a:avLst/>
            <a:gdLst/>
            <a:ahLst/>
            <a:cxnLst/>
            <a:rect l="l" t="t" r="r" b="b"/>
            <a:pathLst>
              <a:path w="2972517" h="3798743">
                <a:moveTo>
                  <a:pt x="0" y="0"/>
                </a:moveTo>
                <a:lnTo>
                  <a:pt x="2972517" y="0"/>
                </a:lnTo>
                <a:lnTo>
                  <a:pt x="2972517" y="3798743"/>
                </a:lnTo>
                <a:lnTo>
                  <a:pt x="0" y="379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146120" y="1104900"/>
            <a:ext cx="992718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Dataset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431007"/>
            <a:ext cx="11060736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Total data: 9027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gambar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4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kelas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seimbang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Format: JPG/PNG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5449" y="4958056"/>
            <a:ext cx="15983851" cy="4249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Distribusi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:</a:t>
            </a: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Black Measles: 2400</a:t>
            </a: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Black Rot: 2360</a:t>
            </a: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Healthy: 2115</a:t>
            </a:r>
          </a:p>
          <a:p>
            <a:pPr marL="539749" lvl="1" indent="-269875" algn="just">
              <a:lnSpc>
                <a:spcPts val="3849"/>
              </a:lnSpc>
              <a:buFont typeface="Arial"/>
              <a:buChar char="•"/>
            </a:pP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Isariopsis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Leaf Spot: 2152</a:t>
            </a:r>
          </a:p>
          <a:p>
            <a:pPr algn="just">
              <a:lnSpc>
                <a:spcPts val="3849"/>
              </a:lnSpc>
            </a:pP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algn="just">
              <a:lnSpc>
                <a:spcPts val="3542"/>
              </a:lnSpc>
            </a:pPr>
            <a:r>
              <a:rPr lang="en-US" sz="2300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Sumber</a:t>
            </a:r>
            <a:r>
              <a:rPr lang="en-US" sz="2300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: 🔗 Kaggle: </a:t>
            </a:r>
            <a:r>
              <a:rPr lang="en-US" sz="2300" u="sng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  <a:hlinkClick r:id="rId6" tooltip="https://www.google.com/url?q=https%3A%2F%2Fwww.kaggle.com%2F"/>
              </a:rPr>
              <a:t>https://www.kaggle.com/</a:t>
            </a:r>
          </a:p>
          <a:p>
            <a:pPr algn="just">
              <a:lnSpc>
                <a:spcPts val="3542"/>
              </a:lnSpc>
            </a:pPr>
            <a:r>
              <a:rPr lang="en-US" sz="2300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Dataset : </a:t>
            </a:r>
            <a:r>
              <a:rPr lang="en-US" sz="2300" u="sng" dirty="0">
                <a:solidFill>
                  <a:schemeClr val="bg1"/>
                </a:solidFill>
                <a:latin typeface="Droid Serif"/>
                <a:ea typeface="Droid Serif"/>
                <a:cs typeface="Droid Serif"/>
                <a:sym typeface="Droid Serif"/>
              </a:rPr>
              <a:t>https://drive.google.com/drive/folders/1a1BjceLsFC5SFVEDwwEeXk8WpDTu1muv?usp=sharing</a:t>
            </a:r>
          </a:p>
          <a:p>
            <a:pPr algn="just">
              <a:lnSpc>
                <a:spcPts val="3542"/>
              </a:lnSpc>
            </a:pPr>
            <a:r>
              <a:rPr lang="en-US" sz="2300" dirty="0">
                <a:solidFill>
                  <a:schemeClr val="bg1"/>
                </a:solidFill>
                <a:latin typeface="Droid Serif"/>
                <a:ea typeface="Droid Serif"/>
                <a:cs typeface="Droid Serif"/>
                <a:sym typeface="Droid Serif"/>
              </a:rPr>
              <a:t>Link </a:t>
            </a:r>
            <a:r>
              <a:rPr lang="en-US" sz="2300" dirty="0" err="1">
                <a:solidFill>
                  <a:schemeClr val="bg1"/>
                </a:solidFill>
                <a:latin typeface="Droid Serif"/>
                <a:ea typeface="Droid Serif"/>
                <a:cs typeface="Droid Serif"/>
                <a:sym typeface="Droid Serif"/>
              </a:rPr>
              <a:t>Colab</a:t>
            </a:r>
            <a:r>
              <a:rPr lang="en-US" sz="2300" dirty="0">
                <a:solidFill>
                  <a:schemeClr val="bg1"/>
                </a:solidFill>
                <a:latin typeface="Droid Serif"/>
                <a:ea typeface="Droid Serif"/>
                <a:cs typeface="Droid Serif"/>
                <a:sym typeface="Droid Serif"/>
              </a:rPr>
              <a:t> : </a:t>
            </a:r>
            <a:r>
              <a:rPr lang="en-US" sz="2300" u="sng" dirty="0">
                <a:solidFill>
                  <a:schemeClr val="bg1"/>
                </a:solidFill>
                <a:latin typeface="Droid Serif"/>
                <a:ea typeface="Droid Serif"/>
                <a:cs typeface="Droid Serif"/>
                <a:sym typeface="Droid Serif"/>
              </a:rPr>
              <a:t>https://colab.research.google.com/drive/1VibzP9O7Ma5yX64azmwPQ6YaSdPqwWfD?usp=sharing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IMPORT LIBRARY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33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numpy digunakan operasi numerik (mean, std)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pandas untuk pengolahan dataset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cv2 untuk membaca &amp; memproses citra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seaborn/matplotlib digunakan untuk visualisasi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sklearn digunakan model machine learning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Ini menunjukkan kode menggunakan library standar industri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DF4B7B-ED2A-F031-157B-7BF96F370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880" y="3618146"/>
            <a:ext cx="4020111" cy="2686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04602" y="6131922"/>
            <a:ext cx="12101003" cy="241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Validasi path agar mencegah error saat runtime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Data diambil dari Google Drive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Dataset terdiri dari ribuan citra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Ini menunjukkan good practice (error handling)</a:t>
            </a:r>
          </a:p>
        </p:txBody>
      </p:sp>
      <p:sp>
        <p:nvSpPr>
          <p:cNvPr id="13" name="Freeform 13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20601" y="3776759"/>
            <a:ext cx="7846797" cy="2543881"/>
          </a:xfrm>
          <a:custGeom>
            <a:avLst/>
            <a:gdLst/>
            <a:ahLst/>
            <a:cxnLst/>
            <a:rect l="l" t="t" r="r" b="b"/>
            <a:pathLst>
              <a:path w="7846797" h="2543881">
                <a:moveTo>
                  <a:pt x="0" y="0"/>
                </a:moveTo>
                <a:lnTo>
                  <a:pt x="7846798" y="0"/>
                </a:lnTo>
                <a:lnTo>
                  <a:pt x="7846798" y="2543881"/>
                </a:lnTo>
                <a:lnTo>
                  <a:pt x="0" y="2543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DATA PREPARATION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768021" y="3916980"/>
            <a:ext cx="6375979" cy="4496743"/>
          </a:xfrm>
          <a:custGeom>
            <a:avLst/>
            <a:gdLst/>
            <a:ahLst/>
            <a:cxnLst/>
            <a:rect l="l" t="t" r="r" b="b"/>
            <a:pathLst>
              <a:path w="6375979" h="4496743">
                <a:moveTo>
                  <a:pt x="0" y="0"/>
                </a:moveTo>
                <a:lnTo>
                  <a:pt x="6375979" y="0"/>
                </a:lnTo>
                <a:lnTo>
                  <a:pt x="6375979" y="4496743"/>
                </a:lnTo>
                <a:lnTo>
                  <a:pt x="0" y="4496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LABELING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2675" y="4423864"/>
            <a:ext cx="5960636" cy="33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Label diambil dari nama folder/file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Mengubah data mentah menjadi data terstruktur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Menghasilkan 4 kelas target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Tanpa labeling,  model tidak bisa belajar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717" y="491312"/>
            <a:ext cx="15810566" cy="9304375"/>
            <a:chOff x="0" y="0"/>
            <a:chExt cx="4164100" cy="2450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4100" cy="2450535"/>
            </a:xfrm>
            <a:custGeom>
              <a:avLst/>
              <a:gdLst/>
              <a:ahLst/>
              <a:cxnLst/>
              <a:rect l="l" t="t" r="r" b="b"/>
              <a:pathLst>
                <a:path w="4164100" h="2450535">
                  <a:moveTo>
                    <a:pt x="24973" y="0"/>
                  </a:moveTo>
                  <a:lnTo>
                    <a:pt x="4139127" y="0"/>
                  </a:lnTo>
                  <a:cubicBezTo>
                    <a:pt x="4145750" y="0"/>
                    <a:pt x="4152102" y="2631"/>
                    <a:pt x="4156785" y="7314"/>
                  </a:cubicBezTo>
                  <a:cubicBezTo>
                    <a:pt x="4161468" y="11998"/>
                    <a:pt x="4164100" y="18350"/>
                    <a:pt x="4164100" y="24973"/>
                  </a:cubicBezTo>
                  <a:lnTo>
                    <a:pt x="4164100" y="2425562"/>
                  </a:lnTo>
                  <a:cubicBezTo>
                    <a:pt x="4164100" y="2432185"/>
                    <a:pt x="4161468" y="2438537"/>
                    <a:pt x="4156785" y="2443221"/>
                  </a:cubicBezTo>
                  <a:cubicBezTo>
                    <a:pt x="4152102" y="2447904"/>
                    <a:pt x="4145750" y="2450535"/>
                    <a:pt x="4139127" y="2450535"/>
                  </a:cubicBezTo>
                  <a:lnTo>
                    <a:pt x="24973" y="2450535"/>
                  </a:lnTo>
                  <a:cubicBezTo>
                    <a:pt x="18350" y="2450535"/>
                    <a:pt x="11998" y="2447904"/>
                    <a:pt x="7314" y="2443221"/>
                  </a:cubicBezTo>
                  <a:cubicBezTo>
                    <a:pt x="2631" y="2438537"/>
                    <a:pt x="0" y="2432185"/>
                    <a:pt x="0" y="2425562"/>
                  </a:cubicBezTo>
                  <a:lnTo>
                    <a:pt x="0" y="24973"/>
                  </a:lnTo>
                  <a:cubicBezTo>
                    <a:pt x="0" y="18350"/>
                    <a:pt x="2631" y="11998"/>
                    <a:pt x="7314" y="7314"/>
                  </a:cubicBezTo>
                  <a:cubicBezTo>
                    <a:pt x="11998" y="2631"/>
                    <a:pt x="18350" y="0"/>
                    <a:pt x="24973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164100" cy="249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03607">
            <a:off x="1443057" y="-358123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7512" y="-1019795"/>
            <a:ext cx="1790488" cy="3850512"/>
          </a:xfrm>
          <a:custGeom>
            <a:avLst/>
            <a:gdLst/>
            <a:ahLst/>
            <a:cxnLst/>
            <a:rect l="l" t="t" r="r" b="b"/>
            <a:pathLst>
              <a:path w="1790488" h="3850512">
                <a:moveTo>
                  <a:pt x="0" y="0"/>
                </a:moveTo>
                <a:lnTo>
                  <a:pt x="1790488" y="0"/>
                </a:lnTo>
                <a:lnTo>
                  <a:pt x="1790488" y="3850512"/>
                </a:lnTo>
                <a:lnTo>
                  <a:pt x="0" y="3850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64828">
            <a:off x="16490515" y="2249295"/>
            <a:ext cx="2676708" cy="1900463"/>
          </a:xfrm>
          <a:custGeom>
            <a:avLst/>
            <a:gdLst/>
            <a:ahLst/>
            <a:cxnLst/>
            <a:rect l="l" t="t" r="r" b="b"/>
            <a:pathLst>
              <a:path w="2676708" h="1900463">
                <a:moveTo>
                  <a:pt x="0" y="0"/>
                </a:moveTo>
                <a:lnTo>
                  <a:pt x="2676708" y="0"/>
                </a:lnTo>
                <a:lnTo>
                  <a:pt x="2676708" y="1900463"/>
                </a:lnTo>
                <a:lnTo>
                  <a:pt x="0" y="1900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67979" flipH="1">
            <a:off x="-1589513" y="5560900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6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6" y="2257108"/>
                </a:lnTo>
                <a:lnTo>
                  <a:pt x="317902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11578">
            <a:off x="-757386" y="-535241"/>
            <a:ext cx="2605817" cy="5603908"/>
          </a:xfrm>
          <a:custGeom>
            <a:avLst/>
            <a:gdLst/>
            <a:ahLst/>
            <a:cxnLst/>
            <a:rect l="l" t="t" r="r" b="b"/>
            <a:pathLst>
              <a:path w="2605817" h="5603908">
                <a:moveTo>
                  <a:pt x="0" y="0"/>
                </a:moveTo>
                <a:lnTo>
                  <a:pt x="2605817" y="0"/>
                </a:lnTo>
                <a:lnTo>
                  <a:pt x="2605817" y="5603908"/>
                </a:lnTo>
                <a:lnTo>
                  <a:pt x="0" y="5603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08823" y="2529181"/>
            <a:ext cx="13797020" cy="727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hsv = cv2.cvtColor(img, cv2.COLOR_BGR2HSV)</a:t>
            </a:r>
          </a:p>
          <a:p>
            <a:pPr algn="ctr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gray = cv2.cvtColor(img, cv2.COLOR_BGR2GRAY)</a:t>
            </a:r>
          </a:p>
          <a:p>
            <a:pPr algn="ctr">
              <a:lnSpc>
                <a:spcPts val="384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Feature yang diambil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HSV : 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H_mean, S_mean, V_mean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H_std, S_std, V_std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GLCM 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contrast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homogeneity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energy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correlation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Mengubah citra menjadi HSV dengan mengambil warna dan Mengubah ke grayscale dengan mengambil tekstur, Ini adalah inti sistem, karena tanpa fitur SVM tidak bisa jalan.</a:t>
            </a:r>
          </a:p>
          <a:p>
            <a:pPr algn="l">
              <a:lnSpc>
                <a:spcPts val="384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1" name="Freeform 11"/>
          <p:cNvSpPr/>
          <p:nvPr/>
        </p:nvSpPr>
        <p:spPr>
          <a:xfrm rot="-1571621">
            <a:off x="16114873" y="6275836"/>
            <a:ext cx="3376789" cy="4315385"/>
          </a:xfrm>
          <a:custGeom>
            <a:avLst/>
            <a:gdLst/>
            <a:ahLst/>
            <a:cxnLst/>
            <a:rect l="l" t="t" r="r" b="b"/>
            <a:pathLst>
              <a:path w="3376789" h="4315385">
                <a:moveTo>
                  <a:pt x="0" y="0"/>
                </a:moveTo>
                <a:lnTo>
                  <a:pt x="3376789" y="0"/>
                </a:lnTo>
                <a:lnTo>
                  <a:pt x="3376789" y="4315385"/>
                </a:lnTo>
                <a:lnTo>
                  <a:pt x="0" y="4315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15407" y="4066966"/>
            <a:ext cx="9901546" cy="1868216"/>
          </a:xfrm>
          <a:custGeom>
            <a:avLst/>
            <a:gdLst/>
            <a:ahLst/>
            <a:cxnLst/>
            <a:rect l="l" t="t" r="r" b="b"/>
            <a:pathLst>
              <a:path w="9901546" h="1868216">
                <a:moveTo>
                  <a:pt x="0" y="0"/>
                </a:moveTo>
                <a:lnTo>
                  <a:pt x="9901546" y="0"/>
                </a:lnTo>
                <a:lnTo>
                  <a:pt x="9901546" y="1868216"/>
                </a:lnTo>
                <a:lnTo>
                  <a:pt x="0" y="1868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15407" y="6426069"/>
            <a:ext cx="9984091" cy="1262097"/>
          </a:xfrm>
          <a:custGeom>
            <a:avLst/>
            <a:gdLst/>
            <a:ahLst/>
            <a:cxnLst/>
            <a:rect l="l" t="t" r="r" b="b"/>
            <a:pathLst>
              <a:path w="9984091" h="1262097">
                <a:moveTo>
                  <a:pt x="0" y="0"/>
                </a:moveTo>
                <a:lnTo>
                  <a:pt x="9984091" y="0"/>
                </a:lnTo>
                <a:lnTo>
                  <a:pt x="9984091" y="1262097"/>
                </a:lnTo>
                <a:lnTo>
                  <a:pt x="0" y="1262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885079" y="1104900"/>
            <a:ext cx="12814584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FEATURE EXTRACTION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FEATURE EXTRACTION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Isi: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HSV → warna daun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GLCM → tekstur permukaan daun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Penyakit daun → perubahan warna (HSV relevan)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Penyakit daun → perubahan tekstur (GLCM relevan)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Kombinasi keduanya meningkatkan akurasi</a:t>
            </a:r>
          </a:p>
          <a:p>
            <a:pPr algn="l">
              <a:lnSpc>
                <a:spcPts val="384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A81292-B4DD-898D-FEFD-1C6AF5A2A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3703" y="3565865"/>
            <a:ext cx="3553321" cy="18862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HSV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290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 (Hue) →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jenis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warna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(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hijau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kuning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,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coklat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 (Saturation) →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intensitas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warna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V (Value) →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kecerahan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Mean →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warna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rata-rata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daun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Std →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variasi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warna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(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indikasi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bercak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penyakit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6F8269-5144-4AEF-C00E-D7E38CD55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516" y="4282879"/>
            <a:ext cx="4134427" cy="2867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27178" y="3374497"/>
            <a:ext cx="5580807" cy="5581708"/>
            <a:chOff x="0" y="0"/>
            <a:chExt cx="1118406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8406" cy="1118587"/>
            </a:xfrm>
            <a:custGeom>
              <a:avLst/>
              <a:gdLst/>
              <a:ahLst/>
              <a:cxnLst/>
              <a:rect l="l" t="t" r="r" b="b"/>
              <a:pathLst>
                <a:path w="1118406" h="1118587">
                  <a:moveTo>
                    <a:pt x="94332" y="0"/>
                  </a:moveTo>
                  <a:lnTo>
                    <a:pt x="1024074" y="0"/>
                  </a:lnTo>
                  <a:cubicBezTo>
                    <a:pt x="1076172" y="0"/>
                    <a:pt x="1118406" y="42234"/>
                    <a:pt x="1118406" y="94332"/>
                  </a:cubicBezTo>
                  <a:lnTo>
                    <a:pt x="1118406" y="1024254"/>
                  </a:lnTo>
                  <a:cubicBezTo>
                    <a:pt x="1118406" y="1049273"/>
                    <a:pt x="1108467" y="1073267"/>
                    <a:pt x="1090777" y="1090957"/>
                  </a:cubicBezTo>
                  <a:cubicBezTo>
                    <a:pt x="1073086" y="1108648"/>
                    <a:pt x="1049092" y="1118587"/>
                    <a:pt x="1024074" y="1118587"/>
                  </a:cubicBezTo>
                  <a:lnTo>
                    <a:pt x="94332" y="1118587"/>
                  </a:lnTo>
                  <a:cubicBezTo>
                    <a:pt x="42234" y="1118587"/>
                    <a:pt x="0" y="1076353"/>
                    <a:pt x="0" y="1024254"/>
                  </a:cubicBezTo>
                  <a:lnTo>
                    <a:pt x="0" y="94332"/>
                  </a:lnTo>
                  <a:cubicBezTo>
                    <a:pt x="0" y="42234"/>
                    <a:pt x="42234" y="0"/>
                    <a:pt x="94332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18406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479028" y="5267323"/>
            <a:ext cx="3099181" cy="1048253"/>
          </a:xfrm>
          <a:custGeom>
            <a:avLst/>
            <a:gdLst/>
            <a:ahLst/>
            <a:cxnLst/>
            <a:rect l="l" t="t" r="r" b="b"/>
            <a:pathLst>
              <a:path w="3099181" h="1048253">
                <a:moveTo>
                  <a:pt x="0" y="0"/>
                </a:moveTo>
                <a:lnTo>
                  <a:pt x="3099181" y="0"/>
                </a:lnTo>
                <a:lnTo>
                  <a:pt x="3099181" y="1048253"/>
                </a:lnTo>
                <a:lnTo>
                  <a:pt x="0" y="104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8598535" y="3374497"/>
            <a:ext cx="8262495" cy="5581708"/>
            <a:chOff x="0" y="0"/>
            <a:chExt cx="1655822" cy="11185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5822" cy="1118587"/>
            </a:xfrm>
            <a:custGeom>
              <a:avLst/>
              <a:gdLst/>
              <a:ahLst/>
              <a:cxnLst/>
              <a:rect l="l" t="t" r="r" b="b"/>
              <a:pathLst>
                <a:path w="1655822" h="1118587">
                  <a:moveTo>
                    <a:pt x="63716" y="0"/>
                  </a:moveTo>
                  <a:lnTo>
                    <a:pt x="1592106" y="0"/>
                  </a:lnTo>
                  <a:cubicBezTo>
                    <a:pt x="1609005" y="0"/>
                    <a:pt x="1625211" y="6713"/>
                    <a:pt x="1637160" y="18662"/>
                  </a:cubicBezTo>
                  <a:cubicBezTo>
                    <a:pt x="1649109" y="30611"/>
                    <a:pt x="1655822" y="46817"/>
                    <a:pt x="1655822" y="63716"/>
                  </a:cubicBezTo>
                  <a:lnTo>
                    <a:pt x="1655822" y="1054871"/>
                  </a:lnTo>
                  <a:cubicBezTo>
                    <a:pt x="1655822" y="1071769"/>
                    <a:pt x="1649109" y="1087976"/>
                    <a:pt x="1637160" y="1099925"/>
                  </a:cubicBezTo>
                  <a:cubicBezTo>
                    <a:pt x="1625211" y="1111874"/>
                    <a:pt x="1609005" y="1118587"/>
                    <a:pt x="1592106" y="1118587"/>
                  </a:cubicBezTo>
                  <a:lnTo>
                    <a:pt x="63716" y="1118587"/>
                  </a:lnTo>
                  <a:cubicBezTo>
                    <a:pt x="28526" y="1118587"/>
                    <a:pt x="0" y="1090060"/>
                    <a:pt x="0" y="1054871"/>
                  </a:cubicBezTo>
                  <a:lnTo>
                    <a:pt x="0" y="63716"/>
                  </a:lnTo>
                  <a:cubicBezTo>
                    <a:pt x="0" y="46817"/>
                    <a:pt x="6713" y="30611"/>
                    <a:pt x="18662" y="18662"/>
                  </a:cubicBezTo>
                  <a:cubicBezTo>
                    <a:pt x="30611" y="6713"/>
                    <a:pt x="46817" y="0"/>
                    <a:pt x="63716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5582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327480" y="4178851"/>
            <a:ext cx="3248859" cy="850560"/>
          </a:xfrm>
          <a:custGeom>
            <a:avLst/>
            <a:gdLst/>
            <a:ahLst/>
            <a:cxnLst/>
            <a:rect l="l" t="t" r="r" b="b"/>
            <a:pathLst>
              <a:path w="3248859" h="850560">
                <a:moveTo>
                  <a:pt x="0" y="0"/>
                </a:moveTo>
                <a:lnTo>
                  <a:pt x="3248858" y="0"/>
                </a:lnTo>
                <a:lnTo>
                  <a:pt x="3248858" y="850560"/>
                </a:lnTo>
                <a:lnTo>
                  <a:pt x="0" y="850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35477" y="1104900"/>
            <a:ext cx="1361704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Perhitungan Matematis HSV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88242" y="3584785"/>
            <a:ext cx="485598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Data (ambil 5 pixel channel H)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 = [70, 72, 68, 75, 69]</a:t>
            </a:r>
          </a:p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Mean (μ)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79028" y="6458451"/>
            <a:ext cx="4528957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Perhitungannya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μ = (70 + 72 + 68 + 75 + 69) / 5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μ = 354 / 5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μ = 70.8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3512943"/>
            <a:ext cx="485598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Standard Deviation (σ)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10252" y="5082705"/>
            <a:ext cx="6955073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Langkah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(70 - 70.8)^2 = 0.64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(72 - 70.8)^2 = 1.44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(68 - 70.8)^2 = 7.84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(75 - 70.8)^2 = 17.64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(69 - 70.8)^2 = 3.24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Jumlah : = 0.64 + 1.44 + 7.84 + 17.64 + 3.24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30.8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99989" y="5302751"/>
            <a:ext cx="2094949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Hasil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σ = √(30.8 / 5)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σ = √6.16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σ ≈ 2.48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GLCM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Menghitung hubungan antar pixel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Menghasilkan fitur tekstur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Parameter:</a:t>
            </a:r>
          </a:p>
          <a:p>
            <a:pPr marL="1079499" lvl="2" indent="-359833" algn="l">
              <a:lnSpc>
                <a:spcPts val="38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distance = 1 → pixel tetangga dekat</a:t>
            </a:r>
          </a:p>
          <a:p>
            <a:pPr marL="1079499" lvl="2" indent="-359833" algn="l">
              <a:lnSpc>
                <a:spcPts val="38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angle = 0 → arah horizontal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Menangkap pola penyakit pada daun</a:t>
            </a:r>
          </a:p>
          <a:p>
            <a:pPr algn="l">
              <a:lnSpc>
                <a:spcPts val="384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CCD129-C39C-9CD1-E096-85E91B7A3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650" y="3407478"/>
            <a:ext cx="6077798" cy="55157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27178" y="3374497"/>
            <a:ext cx="5580807" cy="5581708"/>
            <a:chOff x="0" y="0"/>
            <a:chExt cx="1118406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8406" cy="1118587"/>
            </a:xfrm>
            <a:custGeom>
              <a:avLst/>
              <a:gdLst/>
              <a:ahLst/>
              <a:cxnLst/>
              <a:rect l="l" t="t" r="r" b="b"/>
              <a:pathLst>
                <a:path w="1118406" h="1118587">
                  <a:moveTo>
                    <a:pt x="94332" y="0"/>
                  </a:moveTo>
                  <a:lnTo>
                    <a:pt x="1024074" y="0"/>
                  </a:lnTo>
                  <a:cubicBezTo>
                    <a:pt x="1076172" y="0"/>
                    <a:pt x="1118406" y="42234"/>
                    <a:pt x="1118406" y="94332"/>
                  </a:cubicBezTo>
                  <a:lnTo>
                    <a:pt x="1118406" y="1024254"/>
                  </a:lnTo>
                  <a:cubicBezTo>
                    <a:pt x="1118406" y="1049273"/>
                    <a:pt x="1108467" y="1073267"/>
                    <a:pt x="1090777" y="1090957"/>
                  </a:cubicBezTo>
                  <a:cubicBezTo>
                    <a:pt x="1073086" y="1108648"/>
                    <a:pt x="1049092" y="1118587"/>
                    <a:pt x="1024074" y="1118587"/>
                  </a:cubicBezTo>
                  <a:lnTo>
                    <a:pt x="94332" y="1118587"/>
                  </a:lnTo>
                  <a:cubicBezTo>
                    <a:pt x="42234" y="1118587"/>
                    <a:pt x="0" y="1076353"/>
                    <a:pt x="0" y="1024254"/>
                  </a:cubicBezTo>
                  <a:lnTo>
                    <a:pt x="0" y="94332"/>
                  </a:lnTo>
                  <a:cubicBezTo>
                    <a:pt x="0" y="42234"/>
                    <a:pt x="42234" y="0"/>
                    <a:pt x="94332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18406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98535" y="3374497"/>
            <a:ext cx="8262495" cy="5581708"/>
            <a:chOff x="0" y="0"/>
            <a:chExt cx="1655822" cy="11185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5822" cy="1118587"/>
            </a:xfrm>
            <a:custGeom>
              <a:avLst/>
              <a:gdLst/>
              <a:ahLst/>
              <a:cxnLst/>
              <a:rect l="l" t="t" r="r" b="b"/>
              <a:pathLst>
                <a:path w="1655822" h="1118587">
                  <a:moveTo>
                    <a:pt x="63716" y="0"/>
                  </a:moveTo>
                  <a:lnTo>
                    <a:pt x="1592106" y="0"/>
                  </a:lnTo>
                  <a:cubicBezTo>
                    <a:pt x="1609005" y="0"/>
                    <a:pt x="1625211" y="6713"/>
                    <a:pt x="1637160" y="18662"/>
                  </a:cubicBezTo>
                  <a:cubicBezTo>
                    <a:pt x="1649109" y="30611"/>
                    <a:pt x="1655822" y="46817"/>
                    <a:pt x="1655822" y="63716"/>
                  </a:cubicBezTo>
                  <a:lnTo>
                    <a:pt x="1655822" y="1054871"/>
                  </a:lnTo>
                  <a:cubicBezTo>
                    <a:pt x="1655822" y="1071769"/>
                    <a:pt x="1649109" y="1087976"/>
                    <a:pt x="1637160" y="1099925"/>
                  </a:cubicBezTo>
                  <a:cubicBezTo>
                    <a:pt x="1625211" y="1111874"/>
                    <a:pt x="1609005" y="1118587"/>
                    <a:pt x="1592106" y="1118587"/>
                  </a:cubicBezTo>
                  <a:lnTo>
                    <a:pt x="63716" y="1118587"/>
                  </a:lnTo>
                  <a:cubicBezTo>
                    <a:pt x="28526" y="1118587"/>
                    <a:pt x="0" y="1090060"/>
                    <a:pt x="0" y="1054871"/>
                  </a:cubicBezTo>
                  <a:lnTo>
                    <a:pt x="0" y="63716"/>
                  </a:lnTo>
                  <a:cubicBezTo>
                    <a:pt x="0" y="46817"/>
                    <a:pt x="6713" y="30611"/>
                    <a:pt x="18662" y="18662"/>
                  </a:cubicBezTo>
                  <a:cubicBezTo>
                    <a:pt x="30611" y="6713"/>
                    <a:pt x="46817" y="0"/>
                    <a:pt x="63716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5582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4380661" y="4754812"/>
            <a:ext cx="1673841" cy="1286378"/>
          </a:xfrm>
          <a:custGeom>
            <a:avLst/>
            <a:gdLst/>
            <a:ahLst/>
            <a:cxnLst/>
            <a:rect l="l" t="t" r="r" b="b"/>
            <a:pathLst>
              <a:path w="1673841" h="1286378">
                <a:moveTo>
                  <a:pt x="0" y="0"/>
                </a:moveTo>
                <a:lnTo>
                  <a:pt x="1673841" y="0"/>
                </a:lnTo>
                <a:lnTo>
                  <a:pt x="1673841" y="1286378"/>
                </a:lnTo>
                <a:lnTo>
                  <a:pt x="0" y="1286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074070" y="4282880"/>
            <a:ext cx="7311425" cy="2458902"/>
          </a:xfrm>
          <a:custGeom>
            <a:avLst/>
            <a:gdLst/>
            <a:ahLst/>
            <a:cxnLst/>
            <a:rect l="l" t="t" r="r" b="b"/>
            <a:pathLst>
              <a:path w="7311425" h="2458902">
                <a:moveTo>
                  <a:pt x="0" y="0"/>
                </a:moveTo>
                <a:lnTo>
                  <a:pt x="7311426" y="0"/>
                </a:lnTo>
                <a:lnTo>
                  <a:pt x="7311426" y="2458902"/>
                </a:lnTo>
                <a:lnTo>
                  <a:pt x="0" y="2458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35477" y="1104900"/>
            <a:ext cx="1422984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Perhitungan Matematis GLCM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88242" y="3584785"/>
            <a:ext cx="4855989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Misal gambar kecil (3x3 grayscale)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53103" y="6374810"/>
            <a:ext cx="4528957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Pasangan pixel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(1,2), (2,1)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(0,1), (1,2)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(2,1), (1,0)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3512943"/>
            <a:ext cx="485598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Matriks GLCM (Simplifikasi)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6941807"/>
            <a:ext cx="7077980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Normalisasi (jadi probabilitas)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Total = 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P(i,j) = nilai /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427178" y="3374497"/>
            <a:ext cx="5580807" cy="5581708"/>
            <a:chOff x="0" y="0"/>
            <a:chExt cx="1118406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8406" cy="1118587"/>
            </a:xfrm>
            <a:custGeom>
              <a:avLst/>
              <a:gdLst/>
              <a:ahLst/>
              <a:cxnLst/>
              <a:rect l="l" t="t" r="r" b="b"/>
              <a:pathLst>
                <a:path w="1118406" h="1118587">
                  <a:moveTo>
                    <a:pt x="94332" y="0"/>
                  </a:moveTo>
                  <a:lnTo>
                    <a:pt x="1024074" y="0"/>
                  </a:lnTo>
                  <a:cubicBezTo>
                    <a:pt x="1076172" y="0"/>
                    <a:pt x="1118406" y="42234"/>
                    <a:pt x="1118406" y="94332"/>
                  </a:cubicBezTo>
                  <a:lnTo>
                    <a:pt x="1118406" y="1024254"/>
                  </a:lnTo>
                  <a:cubicBezTo>
                    <a:pt x="1118406" y="1049273"/>
                    <a:pt x="1108467" y="1073267"/>
                    <a:pt x="1090777" y="1090957"/>
                  </a:cubicBezTo>
                  <a:cubicBezTo>
                    <a:pt x="1073086" y="1108648"/>
                    <a:pt x="1049092" y="1118587"/>
                    <a:pt x="1024074" y="1118587"/>
                  </a:cubicBezTo>
                  <a:lnTo>
                    <a:pt x="94332" y="1118587"/>
                  </a:lnTo>
                  <a:cubicBezTo>
                    <a:pt x="42234" y="1118587"/>
                    <a:pt x="0" y="1076353"/>
                    <a:pt x="0" y="1024254"/>
                  </a:cubicBezTo>
                  <a:lnTo>
                    <a:pt x="0" y="94332"/>
                  </a:lnTo>
                  <a:cubicBezTo>
                    <a:pt x="0" y="42234"/>
                    <a:pt x="42234" y="0"/>
                    <a:pt x="94332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18406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98535" y="3374497"/>
            <a:ext cx="8262495" cy="5581708"/>
            <a:chOff x="0" y="0"/>
            <a:chExt cx="1655822" cy="11185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5822" cy="1118587"/>
            </a:xfrm>
            <a:custGeom>
              <a:avLst/>
              <a:gdLst/>
              <a:ahLst/>
              <a:cxnLst/>
              <a:rect l="l" t="t" r="r" b="b"/>
              <a:pathLst>
                <a:path w="1655822" h="1118587">
                  <a:moveTo>
                    <a:pt x="63716" y="0"/>
                  </a:moveTo>
                  <a:lnTo>
                    <a:pt x="1592106" y="0"/>
                  </a:lnTo>
                  <a:cubicBezTo>
                    <a:pt x="1609005" y="0"/>
                    <a:pt x="1625211" y="6713"/>
                    <a:pt x="1637160" y="18662"/>
                  </a:cubicBezTo>
                  <a:cubicBezTo>
                    <a:pt x="1649109" y="30611"/>
                    <a:pt x="1655822" y="46817"/>
                    <a:pt x="1655822" y="63716"/>
                  </a:cubicBezTo>
                  <a:lnTo>
                    <a:pt x="1655822" y="1054871"/>
                  </a:lnTo>
                  <a:cubicBezTo>
                    <a:pt x="1655822" y="1071769"/>
                    <a:pt x="1649109" y="1087976"/>
                    <a:pt x="1637160" y="1099925"/>
                  </a:cubicBezTo>
                  <a:cubicBezTo>
                    <a:pt x="1625211" y="1111874"/>
                    <a:pt x="1609005" y="1118587"/>
                    <a:pt x="1592106" y="1118587"/>
                  </a:cubicBezTo>
                  <a:lnTo>
                    <a:pt x="63716" y="1118587"/>
                  </a:lnTo>
                  <a:cubicBezTo>
                    <a:pt x="28526" y="1118587"/>
                    <a:pt x="0" y="1090060"/>
                    <a:pt x="0" y="1054871"/>
                  </a:cubicBezTo>
                  <a:lnTo>
                    <a:pt x="0" y="63716"/>
                  </a:lnTo>
                  <a:cubicBezTo>
                    <a:pt x="0" y="46817"/>
                    <a:pt x="6713" y="30611"/>
                    <a:pt x="18662" y="18662"/>
                  </a:cubicBezTo>
                  <a:cubicBezTo>
                    <a:pt x="30611" y="6713"/>
                    <a:pt x="46817" y="0"/>
                    <a:pt x="63716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5582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4883164" y="4156231"/>
            <a:ext cx="2598896" cy="580759"/>
          </a:xfrm>
          <a:custGeom>
            <a:avLst/>
            <a:gdLst/>
            <a:ahLst/>
            <a:cxnLst/>
            <a:rect l="l" t="t" r="r" b="b"/>
            <a:pathLst>
              <a:path w="2598896" h="580759">
                <a:moveTo>
                  <a:pt x="0" y="0"/>
                </a:moveTo>
                <a:lnTo>
                  <a:pt x="2598896" y="0"/>
                </a:lnTo>
                <a:lnTo>
                  <a:pt x="2598896" y="580759"/>
                </a:lnTo>
                <a:lnTo>
                  <a:pt x="0" y="580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465794" y="3991575"/>
            <a:ext cx="2527978" cy="910072"/>
          </a:xfrm>
          <a:custGeom>
            <a:avLst/>
            <a:gdLst/>
            <a:ahLst/>
            <a:cxnLst/>
            <a:rect l="l" t="t" r="r" b="b"/>
            <a:pathLst>
              <a:path w="2527978" h="910072">
                <a:moveTo>
                  <a:pt x="0" y="0"/>
                </a:moveTo>
                <a:lnTo>
                  <a:pt x="2527978" y="0"/>
                </a:lnTo>
                <a:lnTo>
                  <a:pt x="2527978" y="910072"/>
                </a:lnTo>
                <a:lnTo>
                  <a:pt x="0" y="910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35477" y="1104900"/>
            <a:ext cx="1422984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Perhitungan Matematis GLCM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88242" y="3584785"/>
            <a:ext cx="485598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Contrast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15274" y="4832240"/>
            <a:ext cx="4528957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Hitung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(0-1)^2 × 1/6 = 1/6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(1-0)^2 × 1/6 = 1/6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(1-2)^2 × 2/6 = 2/6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(2-1)^2 × 2/6 = 2/6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Total : 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1/6 + 1/6 + 2/6 + 2/6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6/6 =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3512943"/>
            <a:ext cx="485598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Energy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15274" y="4151017"/>
            <a:ext cx="4528957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Contrast=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59214" y="4162448"/>
            <a:ext cx="4528957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Energy =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59214" y="5131816"/>
            <a:ext cx="6806111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Hitung 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(1/6)^2 + (1/6)^2 + (2/6)^2 + (2/6)^2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1/36 + 1/36 + 4/36 + 4/36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= 10/36 ≈ 0.278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96649" y="6238800"/>
            <a:ext cx="12101003" cy="241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Loop semua gambar (9027 data)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Menggabungkan fitur + label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tqdm digunakan untuk progress bar (user-friendly)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Menghasilkan dataset siap training</a:t>
            </a:r>
          </a:p>
        </p:txBody>
      </p:sp>
      <p:sp>
        <p:nvSpPr>
          <p:cNvPr id="13" name="Freeform 13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800681" y="3742087"/>
            <a:ext cx="10422641" cy="2423264"/>
          </a:xfrm>
          <a:custGeom>
            <a:avLst/>
            <a:gdLst/>
            <a:ahLst/>
            <a:cxnLst/>
            <a:rect l="l" t="t" r="r" b="b"/>
            <a:pathLst>
              <a:path w="10422641" h="2423264">
                <a:moveTo>
                  <a:pt x="0" y="0"/>
                </a:moveTo>
                <a:lnTo>
                  <a:pt x="10422641" y="0"/>
                </a:lnTo>
                <a:lnTo>
                  <a:pt x="10422641" y="2423264"/>
                </a:lnTo>
                <a:lnTo>
                  <a:pt x="0" y="242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LOAD DATASET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258AF0-18DC-835E-894B-5D179C6DB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9394" y="6124930"/>
            <a:ext cx="3513703" cy="27477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978566" y="4567673"/>
            <a:ext cx="6165434" cy="3443570"/>
          </a:xfrm>
          <a:custGeom>
            <a:avLst/>
            <a:gdLst/>
            <a:ahLst/>
            <a:cxnLst/>
            <a:rect l="l" t="t" r="r" b="b"/>
            <a:pathLst>
              <a:path w="6165434" h="3443570">
                <a:moveTo>
                  <a:pt x="0" y="0"/>
                </a:moveTo>
                <a:lnTo>
                  <a:pt x="6165434" y="0"/>
                </a:lnTo>
                <a:lnTo>
                  <a:pt x="6165434" y="3443570"/>
                </a:lnTo>
                <a:lnTo>
                  <a:pt x="0" y="34435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EDA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0839" y="5814519"/>
            <a:ext cx="5698595" cy="2879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Mengecek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distribusi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data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Mengecek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apakah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data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seimbang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Memahami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karakteristik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fitur</a:t>
            </a: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algn="l">
              <a:lnSpc>
                <a:spcPts val="3849"/>
              </a:lnSpc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Ini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Penting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sebelum</a:t>
            </a: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training model</a:t>
            </a:r>
          </a:p>
          <a:p>
            <a:pPr algn="l">
              <a:lnSpc>
                <a:spcPts val="3849"/>
              </a:lnSpc>
            </a:pPr>
            <a:endParaRPr lang="en-US" sz="2499" dirty="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4F6D9C-E0EF-A138-03AA-E3F0F8F69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064" y="4523438"/>
            <a:ext cx="2781688" cy="13813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131" y="491312"/>
            <a:ext cx="17369738" cy="9304375"/>
            <a:chOff x="0" y="0"/>
            <a:chExt cx="4574746" cy="2450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4746" cy="2450535"/>
            </a:xfrm>
            <a:custGeom>
              <a:avLst/>
              <a:gdLst/>
              <a:ahLst/>
              <a:cxnLst/>
              <a:rect l="l" t="t" r="r" b="b"/>
              <a:pathLst>
                <a:path w="4574746" h="2450535">
                  <a:moveTo>
                    <a:pt x="22731" y="0"/>
                  </a:moveTo>
                  <a:lnTo>
                    <a:pt x="4552015" y="0"/>
                  </a:lnTo>
                  <a:cubicBezTo>
                    <a:pt x="4564569" y="0"/>
                    <a:pt x="4574746" y="10177"/>
                    <a:pt x="4574746" y="22731"/>
                  </a:cubicBezTo>
                  <a:lnTo>
                    <a:pt x="4574746" y="2427804"/>
                  </a:lnTo>
                  <a:cubicBezTo>
                    <a:pt x="4574746" y="2440358"/>
                    <a:pt x="4564569" y="2450535"/>
                    <a:pt x="4552015" y="2450535"/>
                  </a:cubicBezTo>
                  <a:lnTo>
                    <a:pt x="22731" y="2450535"/>
                  </a:lnTo>
                  <a:cubicBezTo>
                    <a:pt x="10177" y="2450535"/>
                    <a:pt x="0" y="2440358"/>
                    <a:pt x="0" y="2427804"/>
                  </a:cubicBezTo>
                  <a:lnTo>
                    <a:pt x="0" y="22731"/>
                  </a:lnTo>
                  <a:cubicBezTo>
                    <a:pt x="0" y="10177"/>
                    <a:pt x="10177" y="0"/>
                    <a:pt x="22731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74746" cy="249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367979" flipH="1">
            <a:off x="-865626" y="854081"/>
            <a:ext cx="3434859" cy="2438750"/>
          </a:xfrm>
          <a:custGeom>
            <a:avLst/>
            <a:gdLst/>
            <a:ahLst/>
            <a:cxnLst/>
            <a:rect l="l" t="t" r="r" b="b"/>
            <a:pathLst>
              <a:path w="3434859" h="2438750">
                <a:moveTo>
                  <a:pt x="3434859" y="0"/>
                </a:moveTo>
                <a:lnTo>
                  <a:pt x="0" y="0"/>
                </a:lnTo>
                <a:lnTo>
                  <a:pt x="0" y="2438750"/>
                </a:lnTo>
                <a:lnTo>
                  <a:pt x="3434859" y="2438750"/>
                </a:lnTo>
                <a:lnTo>
                  <a:pt x="343485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1578">
            <a:off x="-749202" y="1752461"/>
            <a:ext cx="2815522" cy="6054886"/>
          </a:xfrm>
          <a:custGeom>
            <a:avLst/>
            <a:gdLst/>
            <a:ahLst/>
            <a:cxnLst/>
            <a:rect l="l" t="t" r="r" b="b"/>
            <a:pathLst>
              <a:path w="2815522" h="6054886">
                <a:moveTo>
                  <a:pt x="0" y="0"/>
                </a:moveTo>
                <a:lnTo>
                  <a:pt x="2815522" y="0"/>
                </a:lnTo>
                <a:lnTo>
                  <a:pt x="2815522" y="6054886"/>
                </a:lnTo>
                <a:lnTo>
                  <a:pt x="0" y="6054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833751" flipH="1" flipV="1">
            <a:off x="5221610" y="-1082199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1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1" y="0"/>
                </a:lnTo>
                <a:lnTo>
                  <a:pt x="2527091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03607">
            <a:off x="8530931" y="5731504"/>
            <a:ext cx="1629596" cy="1157013"/>
          </a:xfrm>
          <a:custGeom>
            <a:avLst/>
            <a:gdLst/>
            <a:ahLst/>
            <a:cxnLst/>
            <a:rect l="l" t="t" r="r" b="b"/>
            <a:pathLst>
              <a:path w="1629596" h="1157013">
                <a:moveTo>
                  <a:pt x="0" y="0"/>
                </a:moveTo>
                <a:lnTo>
                  <a:pt x="1629596" y="0"/>
                </a:lnTo>
                <a:lnTo>
                  <a:pt x="1629596" y="1157013"/>
                </a:lnTo>
                <a:lnTo>
                  <a:pt x="0" y="1157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764828">
            <a:off x="16473550" y="-291608"/>
            <a:ext cx="2184070" cy="1550690"/>
          </a:xfrm>
          <a:custGeom>
            <a:avLst/>
            <a:gdLst/>
            <a:ahLst/>
            <a:cxnLst/>
            <a:rect l="l" t="t" r="r" b="b"/>
            <a:pathLst>
              <a:path w="2184070" h="1550690">
                <a:moveTo>
                  <a:pt x="0" y="0"/>
                </a:moveTo>
                <a:lnTo>
                  <a:pt x="2184070" y="0"/>
                </a:lnTo>
                <a:lnTo>
                  <a:pt x="2184070" y="1550690"/>
                </a:lnTo>
                <a:lnTo>
                  <a:pt x="0" y="155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71621" flipH="1">
            <a:off x="-934430" y="7798349"/>
            <a:ext cx="2787121" cy="3561816"/>
          </a:xfrm>
          <a:custGeom>
            <a:avLst/>
            <a:gdLst/>
            <a:ahLst/>
            <a:cxnLst/>
            <a:rect l="l" t="t" r="r" b="b"/>
            <a:pathLst>
              <a:path w="2787121" h="3561816">
                <a:moveTo>
                  <a:pt x="2787121" y="0"/>
                </a:moveTo>
                <a:lnTo>
                  <a:pt x="0" y="0"/>
                </a:lnTo>
                <a:lnTo>
                  <a:pt x="0" y="3561816"/>
                </a:lnTo>
                <a:lnTo>
                  <a:pt x="2787121" y="3561816"/>
                </a:lnTo>
                <a:lnTo>
                  <a:pt x="278712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547045">
            <a:off x="16079326" y="4008261"/>
            <a:ext cx="2972517" cy="3798743"/>
          </a:xfrm>
          <a:custGeom>
            <a:avLst/>
            <a:gdLst/>
            <a:ahLst/>
            <a:cxnLst/>
            <a:rect l="l" t="t" r="r" b="b"/>
            <a:pathLst>
              <a:path w="2972517" h="3798743">
                <a:moveTo>
                  <a:pt x="0" y="0"/>
                </a:moveTo>
                <a:lnTo>
                  <a:pt x="2972517" y="0"/>
                </a:lnTo>
                <a:lnTo>
                  <a:pt x="2972517" y="3798743"/>
                </a:lnTo>
                <a:lnTo>
                  <a:pt x="0" y="379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568471" y="3020604"/>
            <a:ext cx="5516280" cy="4586563"/>
            <a:chOff x="0" y="0"/>
            <a:chExt cx="7355040" cy="611541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/>
            <a:srcRect l="86" r="86"/>
            <a:stretch>
              <a:fillRect/>
            </a:stretch>
          </p:blipFill>
          <p:spPr>
            <a:xfrm>
              <a:off x="0" y="0"/>
              <a:ext cx="7355040" cy="611541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0610884" y="3044448"/>
            <a:ext cx="6323353" cy="4562719"/>
            <a:chOff x="0" y="0"/>
            <a:chExt cx="8431137" cy="6083625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/>
            <a:srcRect t="407" b="407"/>
            <a:stretch>
              <a:fillRect/>
            </a:stretch>
          </p:blipFill>
          <p:spPr>
            <a:xfrm>
              <a:off x="0" y="0"/>
              <a:ext cx="8431137" cy="6083625"/>
            </a:xfrm>
            <a:prstGeom prst="rect">
              <a:avLst/>
            </a:prstGeom>
          </p:spPr>
        </p:pic>
      </p:grpSp>
      <p:sp>
        <p:nvSpPr>
          <p:cNvPr id="16" name="TextBox 16"/>
          <p:cNvSpPr txBox="1"/>
          <p:nvPr/>
        </p:nvSpPr>
        <p:spPr>
          <a:xfrm>
            <a:off x="9144000" y="1028700"/>
            <a:ext cx="811530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524"/>
              </a:lnSpc>
              <a:spcBef>
                <a:spcPct val="0"/>
              </a:spcBef>
            </a:pPr>
            <a:r>
              <a:rPr lang="en-US" sz="8770">
                <a:solidFill>
                  <a:srgbClr val="FFFFFF"/>
                </a:solidFill>
                <a:latin typeface="Pony Club"/>
                <a:ea typeface="Pony Club"/>
                <a:cs typeface="Pony Club"/>
                <a:sym typeface="Pony Club"/>
              </a:rPr>
              <a:t>Visualisasi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39872" y="7807236"/>
            <a:ext cx="6973479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Bar Chart (Distribusi Kelas)</a:t>
            </a:r>
          </a:p>
          <a:p>
            <a:pPr marL="0" lvl="0" indent="0" algn="ctr">
              <a:lnSpc>
                <a:spcPts val="399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5821" y="7807236"/>
            <a:ext cx="6973479" cy="48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</a:pPr>
            <a:r>
              <a:rPr lang="en-US" sz="2499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Boxplot (Feature Distribution)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131" y="491312"/>
            <a:ext cx="17369738" cy="9304375"/>
            <a:chOff x="0" y="0"/>
            <a:chExt cx="4574746" cy="24505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4746" cy="2450535"/>
            </a:xfrm>
            <a:custGeom>
              <a:avLst/>
              <a:gdLst/>
              <a:ahLst/>
              <a:cxnLst/>
              <a:rect l="l" t="t" r="r" b="b"/>
              <a:pathLst>
                <a:path w="4574746" h="2450535">
                  <a:moveTo>
                    <a:pt x="22731" y="0"/>
                  </a:moveTo>
                  <a:lnTo>
                    <a:pt x="4552015" y="0"/>
                  </a:lnTo>
                  <a:cubicBezTo>
                    <a:pt x="4564569" y="0"/>
                    <a:pt x="4574746" y="10177"/>
                    <a:pt x="4574746" y="22731"/>
                  </a:cubicBezTo>
                  <a:lnTo>
                    <a:pt x="4574746" y="2427804"/>
                  </a:lnTo>
                  <a:cubicBezTo>
                    <a:pt x="4574746" y="2440358"/>
                    <a:pt x="4564569" y="2450535"/>
                    <a:pt x="4552015" y="2450535"/>
                  </a:cubicBezTo>
                  <a:lnTo>
                    <a:pt x="22731" y="2450535"/>
                  </a:lnTo>
                  <a:cubicBezTo>
                    <a:pt x="10177" y="2450535"/>
                    <a:pt x="0" y="2440358"/>
                    <a:pt x="0" y="2427804"/>
                  </a:cubicBezTo>
                  <a:lnTo>
                    <a:pt x="0" y="22731"/>
                  </a:lnTo>
                  <a:cubicBezTo>
                    <a:pt x="0" y="10177"/>
                    <a:pt x="10177" y="0"/>
                    <a:pt x="22731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74746" cy="2498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367979" flipH="1">
            <a:off x="-865626" y="854081"/>
            <a:ext cx="3434859" cy="2438750"/>
          </a:xfrm>
          <a:custGeom>
            <a:avLst/>
            <a:gdLst/>
            <a:ahLst/>
            <a:cxnLst/>
            <a:rect l="l" t="t" r="r" b="b"/>
            <a:pathLst>
              <a:path w="3434859" h="2438750">
                <a:moveTo>
                  <a:pt x="3434859" y="0"/>
                </a:moveTo>
                <a:lnTo>
                  <a:pt x="0" y="0"/>
                </a:lnTo>
                <a:lnTo>
                  <a:pt x="0" y="2438750"/>
                </a:lnTo>
                <a:lnTo>
                  <a:pt x="3434859" y="2438750"/>
                </a:lnTo>
                <a:lnTo>
                  <a:pt x="343485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1578">
            <a:off x="-749202" y="1752461"/>
            <a:ext cx="2815522" cy="6054886"/>
          </a:xfrm>
          <a:custGeom>
            <a:avLst/>
            <a:gdLst/>
            <a:ahLst/>
            <a:cxnLst/>
            <a:rect l="l" t="t" r="r" b="b"/>
            <a:pathLst>
              <a:path w="2815522" h="6054886">
                <a:moveTo>
                  <a:pt x="0" y="0"/>
                </a:moveTo>
                <a:lnTo>
                  <a:pt x="2815522" y="0"/>
                </a:lnTo>
                <a:lnTo>
                  <a:pt x="2815522" y="6054886"/>
                </a:lnTo>
                <a:lnTo>
                  <a:pt x="0" y="6054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833751" flipH="1" flipV="1">
            <a:off x="5221610" y="-1082199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1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1" y="0"/>
                </a:lnTo>
                <a:lnTo>
                  <a:pt x="2527091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03607">
            <a:off x="8530931" y="5731504"/>
            <a:ext cx="1629596" cy="1157013"/>
          </a:xfrm>
          <a:custGeom>
            <a:avLst/>
            <a:gdLst/>
            <a:ahLst/>
            <a:cxnLst/>
            <a:rect l="l" t="t" r="r" b="b"/>
            <a:pathLst>
              <a:path w="1629596" h="1157013">
                <a:moveTo>
                  <a:pt x="0" y="0"/>
                </a:moveTo>
                <a:lnTo>
                  <a:pt x="1629596" y="0"/>
                </a:lnTo>
                <a:lnTo>
                  <a:pt x="1629596" y="1157013"/>
                </a:lnTo>
                <a:lnTo>
                  <a:pt x="0" y="1157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764828">
            <a:off x="16473550" y="-291608"/>
            <a:ext cx="2184070" cy="1550690"/>
          </a:xfrm>
          <a:custGeom>
            <a:avLst/>
            <a:gdLst/>
            <a:ahLst/>
            <a:cxnLst/>
            <a:rect l="l" t="t" r="r" b="b"/>
            <a:pathLst>
              <a:path w="2184070" h="1550690">
                <a:moveTo>
                  <a:pt x="0" y="0"/>
                </a:moveTo>
                <a:lnTo>
                  <a:pt x="2184070" y="0"/>
                </a:lnTo>
                <a:lnTo>
                  <a:pt x="2184070" y="1550690"/>
                </a:lnTo>
                <a:lnTo>
                  <a:pt x="0" y="155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571621" flipH="1">
            <a:off x="-934430" y="7798349"/>
            <a:ext cx="2787121" cy="3561816"/>
          </a:xfrm>
          <a:custGeom>
            <a:avLst/>
            <a:gdLst/>
            <a:ahLst/>
            <a:cxnLst/>
            <a:rect l="l" t="t" r="r" b="b"/>
            <a:pathLst>
              <a:path w="2787121" h="3561816">
                <a:moveTo>
                  <a:pt x="2787121" y="0"/>
                </a:moveTo>
                <a:lnTo>
                  <a:pt x="0" y="0"/>
                </a:lnTo>
                <a:lnTo>
                  <a:pt x="0" y="3561816"/>
                </a:lnTo>
                <a:lnTo>
                  <a:pt x="2787121" y="3561816"/>
                </a:lnTo>
                <a:lnTo>
                  <a:pt x="278712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547045">
            <a:off x="16079326" y="4008261"/>
            <a:ext cx="2972517" cy="3798743"/>
          </a:xfrm>
          <a:custGeom>
            <a:avLst/>
            <a:gdLst/>
            <a:ahLst/>
            <a:cxnLst/>
            <a:rect l="l" t="t" r="r" b="b"/>
            <a:pathLst>
              <a:path w="2972517" h="3798743">
                <a:moveTo>
                  <a:pt x="0" y="0"/>
                </a:moveTo>
                <a:lnTo>
                  <a:pt x="2972517" y="0"/>
                </a:lnTo>
                <a:lnTo>
                  <a:pt x="2972517" y="3798743"/>
                </a:lnTo>
                <a:lnTo>
                  <a:pt x="0" y="379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568471" y="3020604"/>
            <a:ext cx="5516280" cy="4586563"/>
            <a:chOff x="0" y="0"/>
            <a:chExt cx="7355040" cy="611541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/>
            <a:srcRect t="1793" b="1793"/>
            <a:stretch>
              <a:fillRect/>
            </a:stretch>
          </p:blipFill>
          <p:spPr>
            <a:xfrm>
              <a:off x="0" y="0"/>
              <a:ext cx="7355040" cy="611541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0610884" y="2872186"/>
            <a:ext cx="5331729" cy="4734981"/>
            <a:chOff x="0" y="0"/>
            <a:chExt cx="7108972" cy="6313308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/>
            <a:srcRect l="454" r="454"/>
            <a:stretch>
              <a:fillRect/>
            </a:stretch>
          </p:blipFill>
          <p:spPr>
            <a:xfrm>
              <a:off x="0" y="0"/>
              <a:ext cx="7108972" cy="6313308"/>
            </a:xfrm>
            <a:prstGeom prst="rect">
              <a:avLst/>
            </a:prstGeom>
          </p:spPr>
        </p:pic>
      </p:grpSp>
      <p:sp>
        <p:nvSpPr>
          <p:cNvPr id="16" name="TextBox 16"/>
          <p:cNvSpPr txBox="1"/>
          <p:nvPr/>
        </p:nvSpPr>
        <p:spPr>
          <a:xfrm>
            <a:off x="9144000" y="1028700"/>
            <a:ext cx="811530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524"/>
              </a:lnSpc>
              <a:spcBef>
                <a:spcPct val="0"/>
              </a:spcBef>
            </a:pPr>
            <a:r>
              <a:rPr lang="en-US" sz="8770">
                <a:solidFill>
                  <a:srgbClr val="FFFFFF"/>
                </a:solidFill>
                <a:latin typeface="Pony Club"/>
                <a:ea typeface="Pony Club"/>
                <a:cs typeface="Pony Club"/>
                <a:sym typeface="Pony Club"/>
              </a:rPr>
              <a:t>Visualisasi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39872" y="7807236"/>
            <a:ext cx="6973479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Scatter Plot (Texture Analysis)</a:t>
            </a:r>
          </a:p>
          <a:p>
            <a:pPr marL="0" lvl="0" indent="0" algn="ctr">
              <a:lnSpc>
                <a:spcPts val="399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5821" y="7807236"/>
            <a:ext cx="6973479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Correlation Matrix (Heatmap)</a:t>
            </a:r>
          </a:p>
          <a:p>
            <a:pPr marL="0" lvl="0" indent="0" algn="ctr">
              <a:lnSpc>
                <a:spcPts val="399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VISUALISASI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3768226"/>
            <a:ext cx="12101003" cy="467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.value_counts(): Menghitung jumlah data tiap kelas, Digunakan untuk cek keseimbangan dataset sebelum training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sns.countplot() : Membuat bar chart distribusi label. Representasi visual dari jumlah data per kelas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df.drop('label', axis=1) : Menghapus kolom label. Agar hanya fitur numerik yang divisualisasikan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sns.boxplot() : Menampilkan distribusi statistik fitur. Menunjukkan median, variasi, dan outlier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sns.scatterplot() : Menampilkan hubungan antar fitur (contrast vs homogeneity). hue='label' memberi warna berbeda tiap kelas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.corr() : Menghitung korelasi antar fitur. Nilai -1 sampai 1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sns.heatmap() : Visualisasi matriks korelasi. Mempermudah melihat hubungan antar fitur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650519" y="3938089"/>
            <a:ext cx="7850585" cy="435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Isi: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Label Encoding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Train-Test Split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Normalisasi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Label encoding → mengubah label jadi angka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Stratified split → menjaga keseimbangan data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Normalisasi → penting untuk SVM karena sensitif terhadap skala</a:t>
            </a:r>
          </a:p>
        </p:txBody>
      </p:sp>
      <p:sp>
        <p:nvSpPr>
          <p:cNvPr id="13" name="Freeform 13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427178" y="3374497"/>
            <a:ext cx="4956172" cy="5581708"/>
          </a:xfrm>
          <a:custGeom>
            <a:avLst/>
            <a:gdLst/>
            <a:ahLst/>
            <a:cxnLst/>
            <a:rect l="l" t="t" r="r" b="b"/>
            <a:pathLst>
              <a:path w="4956172" h="5581708">
                <a:moveTo>
                  <a:pt x="0" y="0"/>
                </a:moveTo>
                <a:lnTo>
                  <a:pt x="4956172" y="0"/>
                </a:lnTo>
                <a:lnTo>
                  <a:pt x="4956172" y="5581708"/>
                </a:lnTo>
                <a:lnTo>
                  <a:pt x="0" y="5581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DATA PREPROCESSING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TRAINING MODEL SVM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GridSearch digunakan untuk mencari parameter terbaik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Parameter C mengontrol kompleksitas model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Gamma mengontrol radius pengaruh data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Mencari parameter terbaik otomatis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Menghindari trial manual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Cross-validation → model lebih robust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Ini menunjukkan optimasi model dilakukan dengan benar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08445" y="3653182"/>
            <a:ext cx="5787289" cy="4550428"/>
          </a:xfrm>
          <a:custGeom>
            <a:avLst/>
            <a:gdLst/>
            <a:ahLst/>
            <a:cxnLst/>
            <a:rect l="l" t="t" r="r" b="b"/>
            <a:pathLst>
              <a:path w="5787289" h="4550428">
                <a:moveTo>
                  <a:pt x="0" y="0"/>
                </a:moveTo>
                <a:lnTo>
                  <a:pt x="5787290" y="0"/>
                </a:lnTo>
                <a:lnTo>
                  <a:pt x="5787290" y="4550428"/>
                </a:lnTo>
                <a:lnTo>
                  <a:pt x="0" y="455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896649" y="3653182"/>
            <a:ext cx="5942207" cy="2744803"/>
          </a:xfrm>
          <a:custGeom>
            <a:avLst/>
            <a:gdLst/>
            <a:ahLst/>
            <a:cxnLst/>
            <a:rect l="l" t="t" r="r" b="b"/>
            <a:pathLst>
              <a:path w="5942207" h="2744803">
                <a:moveTo>
                  <a:pt x="0" y="0"/>
                </a:moveTo>
                <a:lnTo>
                  <a:pt x="5942207" y="0"/>
                </a:lnTo>
                <a:lnTo>
                  <a:pt x="5942207" y="2744803"/>
                </a:lnTo>
                <a:lnTo>
                  <a:pt x="0" y="2744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96649" y="6836135"/>
            <a:ext cx="5942207" cy="2968320"/>
          </a:xfrm>
          <a:custGeom>
            <a:avLst/>
            <a:gdLst/>
            <a:ahLst/>
            <a:cxnLst/>
            <a:rect l="l" t="t" r="r" b="b"/>
            <a:pathLst>
              <a:path w="5942207" h="2968320">
                <a:moveTo>
                  <a:pt x="0" y="0"/>
                </a:moveTo>
                <a:lnTo>
                  <a:pt x="5942207" y="0"/>
                </a:lnTo>
                <a:lnTo>
                  <a:pt x="5942207" y="2968320"/>
                </a:lnTo>
                <a:lnTo>
                  <a:pt x="0" y="29683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892" b="-1089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35477" y="1104900"/>
            <a:ext cx="13617046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Pony Club"/>
                <a:ea typeface="Pony Club"/>
                <a:cs typeface="Pony Club"/>
                <a:sym typeface="Pony Club"/>
              </a:rPr>
              <a:t>Rumus dan Perhitungan SVM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6649" y="2703857"/>
            <a:ext cx="6973479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Rumus SVM 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72925" y="7186048"/>
            <a:ext cx="1258259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Nilai akurasi tinggi menunjukkan bahwa kombinasi HSV + GLCM mampu merepresentasikan karakteristik penyakit daun dengan baik.</a:t>
            </a:r>
          </a:p>
        </p:txBody>
      </p:sp>
      <p:sp>
        <p:nvSpPr>
          <p:cNvPr id="13" name="Freeform 13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Hasil Training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5539009" y="3674987"/>
            <a:ext cx="7959542" cy="3299358"/>
          </a:xfrm>
          <a:custGeom>
            <a:avLst/>
            <a:gdLst/>
            <a:ahLst/>
            <a:cxnLst/>
            <a:rect l="l" t="t" r="r" b="b"/>
            <a:pathLst>
              <a:path w="7959542" h="3299358">
                <a:moveTo>
                  <a:pt x="0" y="0"/>
                </a:moveTo>
                <a:lnTo>
                  <a:pt x="7959542" y="0"/>
                </a:lnTo>
                <a:lnTo>
                  <a:pt x="7959542" y="3299359"/>
                </a:lnTo>
                <a:lnTo>
                  <a:pt x="0" y="3299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EVALUASI MODEL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93499" y="6070101"/>
            <a:ext cx="12101003" cy="241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Accuracy tinggi → model bagus secara umum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Precision tinggi → sedikit false positive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Recall tinggi → sedikit data yang terlewat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Evaluasi tidak hanya 1 metrik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833504" y="3842446"/>
            <a:ext cx="6443198" cy="1962247"/>
          </a:xfrm>
          <a:custGeom>
            <a:avLst/>
            <a:gdLst/>
            <a:ahLst/>
            <a:cxnLst/>
            <a:rect l="l" t="t" r="r" b="b"/>
            <a:pathLst>
              <a:path w="6443198" h="1962247">
                <a:moveTo>
                  <a:pt x="0" y="0"/>
                </a:moveTo>
                <a:lnTo>
                  <a:pt x="6443198" y="0"/>
                </a:lnTo>
                <a:lnTo>
                  <a:pt x="6443198" y="1962247"/>
                </a:lnTo>
                <a:lnTo>
                  <a:pt x="0" y="19622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88242" y="7033967"/>
            <a:ext cx="12101003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Selisih kecil antara train dan test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Model tidak overfitting → generalisasi baik</a:t>
            </a:r>
          </a:p>
        </p:txBody>
      </p:sp>
      <p:sp>
        <p:nvSpPr>
          <p:cNvPr id="13" name="Freeform 13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305383" y="3831263"/>
            <a:ext cx="9677234" cy="2872120"/>
          </a:xfrm>
          <a:custGeom>
            <a:avLst/>
            <a:gdLst/>
            <a:ahLst/>
            <a:cxnLst/>
            <a:rect l="l" t="t" r="r" b="b"/>
            <a:pathLst>
              <a:path w="9677234" h="2872120">
                <a:moveTo>
                  <a:pt x="0" y="0"/>
                </a:moveTo>
                <a:lnTo>
                  <a:pt x="9677234" y="0"/>
                </a:lnTo>
                <a:lnTo>
                  <a:pt x="9677234" y="2872120"/>
                </a:lnTo>
                <a:lnTo>
                  <a:pt x="0" y="2872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OVERFITTING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667271" y="4095160"/>
            <a:ext cx="4592303" cy="3932159"/>
          </a:xfrm>
          <a:custGeom>
            <a:avLst/>
            <a:gdLst/>
            <a:ahLst/>
            <a:cxnLst/>
            <a:rect l="l" t="t" r="r" b="b"/>
            <a:pathLst>
              <a:path w="4592303" h="3932159">
                <a:moveTo>
                  <a:pt x="0" y="0"/>
                </a:moveTo>
                <a:lnTo>
                  <a:pt x="4592303" y="0"/>
                </a:lnTo>
                <a:lnTo>
                  <a:pt x="4592303" y="3932159"/>
                </a:lnTo>
                <a:lnTo>
                  <a:pt x="0" y="3932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CONFUSION MATRIX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27854" y="4076864"/>
            <a:ext cx="7437200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Kesalahan terjadi pada kelas yang memiliki ciri visual mirip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Kelas healthy memiliki akurasi tinggi karena cirinya jelas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Menunjukkan detail kesalahan model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Bisa melihat kelas mana yang sulit diprediksi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Lebih informatif dibanding accuracy saja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256812" y="4282880"/>
            <a:ext cx="4202473" cy="3673092"/>
          </a:xfrm>
          <a:custGeom>
            <a:avLst/>
            <a:gdLst/>
            <a:ahLst/>
            <a:cxnLst/>
            <a:rect l="l" t="t" r="r" b="b"/>
            <a:pathLst>
              <a:path w="4202473" h="3673092">
                <a:moveTo>
                  <a:pt x="0" y="0"/>
                </a:moveTo>
                <a:lnTo>
                  <a:pt x="4202473" y="0"/>
                </a:lnTo>
                <a:lnTo>
                  <a:pt x="4202473" y="3673092"/>
                </a:lnTo>
                <a:lnTo>
                  <a:pt x="0" y="36730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Roc Kurve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30760" y="4620826"/>
            <a:ext cx="7437200" cy="290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Model mampu membedakan kelas dengan baik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Nilai AUC tinggi → performa sangat baik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SVM + HSV + GLCM menghasilkan klasifikasi yang kuat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88242" y="3815464"/>
            <a:ext cx="5413933" cy="4324379"/>
          </a:xfrm>
          <a:custGeom>
            <a:avLst/>
            <a:gdLst/>
            <a:ahLst/>
            <a:cxnLst/>
            <a:rect l="l" t="t" r="r" b="b"/>
            <a:pathLst>
              <a:path w="5413933" h="4324379">
                <a:moveTo>
                  <a:pt x="0" y="0"/>
                </a:moveTo>
                <a:lnTo>
                  <a:pt x="5413933" y="0"/>
                </a:lnTo>
                <a:lnTo>
                  <a:pt x="5413933" y="4324379"/>
                </a:lnTo>
                <a:lnTo>
                  <a:pt x="0" y="4324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Feature Importance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55103" y="3739264"/>
            <a:ext cx="6050501" cy="467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 :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Tbest_model → model SVM terbaik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X_test_scaled → data uji (sudah dinormalisasi)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y_test → label asli</a:t>
            </a:r>
          </a:p>
          <a:p>
            <a:pPr marL="431802" lvl="1" indent="-215901" algn="l">
              <a:lnSpc>
                <a:spcPts val="308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n_repeats=10 → diacak 10x untuk hasil stabil</a:t>
            </a:r>
          </a:p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op fitur:</a:t>
            </a:r>
          </a:p>
          <a:p>
            <a:pPr marL="431802" lvl="1" indent="-215901" algn="l">
              <a:lnSpc>
                <a:spcPts val="308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H_mean → 22.82%</a:t>
            </a:r>
          </a:p>
          <a:p>
            <a:pPr marL="431802" lvl="1" indent="-215901" algn="l">
              <a:lnSpc>
                <a:spcPts val="308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H_std → 22.63%</a:t>
            </a:r>
          </a:p>
          <a:p>
            <a:pPr marL="431802" lvl="1" indent="-215901" algn="l">
              <a:lnSpc>
                <a:spcPts val="308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homogeneity → 22.34%</a:t>
            </a:r>
          </a:p>
          <a:p>
            <a:pPr marL="431802" lvl="1" indent="-215901" algn="l">
              <a:lnSpc>
                <a:spcPts val="308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energy → 22.17%</a:t>
            </a:r>
          </a:p>
          <a:p>
            <a:pPr marL="431802" lvl="1" indent="-215901" algn="l">
              <a:lnSpc>
                <a:spcPts val="3080"/>
              </a:lnSpc>
              <a:buAutoNum type="arabicPeriod"/>
            </a:pPr>
            <a:r>
              <a:rPr lang="en-US" sz="200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dissimilarity → 21.72%</a:t>
            </a:r>
          </a:p>
          <a:p>
            <a:pPr algn="l">
              <a:lnSpc>
                <a:spcPts val="3080"/>
              </a:lnSpc>
            </a:pPr>
            <a:endParaRPr lang="en-US" sz="2000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14923" y="3825976"/>
            <a:ext cx="4858154" cy="2969547"/>
          </a:xfrm>
          <a:custGeom>
            <a:avLst/>
            <a:gdLst/>
            <a:ahLst/>
            <a:cxnLst/>
            <a:rect l="l" t="t" r="r" b="b"/>
            <a:pathLst>
              <a:path w="4858154" h="2969547">
                <a:moveTo>
                  <a:pt x="0" y="0"/>
                </a:moveTo>
                <a:lnTo>
                  <a:pt x="4858154" y="0"/>
                </a:lnTo>
                <a:lnTo>
                  <a:pt x="4858154" y="2969547"/>
                </a:lnTo>
                <a:lnTo>
                  <a:pt x="0" y="2969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SAVE 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04602" y="6700273"/>
            <a:ext cx="12101003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Analisis: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Menyimpan model untuk penggunaan ulang</a:t>
            </a:r>
          </a:p>
          <a:p>
            <a:pPr marL="539749" lvl="1" indent="-269875" algn="l">
              <a:lnSpc>
                <a:spcPts val="38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Tidak perlu training ulang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 Siap untuk deployment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ANALISIS CODING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004602" y="4187630"/>
            <a:ext cx="12101003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extract_features() =  bagian paling penting karena mengubah citra jadi data numerik</a:t>
            </a:r>
          </a:p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Loop dataset = memastikan semua citra diproses</a:t>
            </a:r>
          </a:p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GridSearchCV = otomatis mencari parameter terbaik</a:t>
            </a:r>
          </a:p>
          <a:p>
            <a:pPr marL="539749" lvl="1" indent="-269875" algn="l">
              <a:lnSpc>
                <a:spcPts val="38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Normalisasi = meningkatkan performa model</a:t>
            </a:r>
          </a:p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Struktur coding sudah modular dan sistematis, dimulai dari preprocessing hingga evaluasi, sehingga memudahkan pengembangan dan debugging.</a:t>
            </a:r>
          </a:p>
          <a:p>
            <a:pPr algn="l">
              <a:lnSpc>
                <a:spcPts val="3849"/>
              </a:lnSpc>
            </a:pPr>
            <a:endParaRPr lang="en-US" sz="2499">
              <a:solidFill>
                <a:srgbClr val="FFFFFF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445" y="-299983"/>
            <a:ext cx="2588798" cy="5567307"/>
          </a:xfrm>
          <a:custGeom>
            <a:avLst/>
            <a:gdLst/>
            <a:ahLst/>
            <a:cxnLst/>
            <a:rect l="l" t="t" r="r" b="b"/>
            <a:pathLst>
              <a:path w="2588798" h="5567307">
                <a:moveTo>
                  <a:pt x="0" y="0"/>
                </a:moveTo>
                <a:lnTo>
                  <a:pt x="2588797" y="0"/>
                </a:lnTo>
                <a:lnTo>
                  <a:pt x="2588797" y="5567306"/>
                </a:lnTo>
                <a:lnTo>
                  <a:pt x="0" y="556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67979" flipH="1">
            <a:off x="-603913" y="7502119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5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5" y="2257108"/>
                </a:lnTo>
                <a:lnTo>
                  <a:pt x="317902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1578">
            <a:off x="16183300" y="-470223"/>
            <a:ext cx="1355460" cy="2914968"/>
          </a:xfrm>
          <a:custGeom>
            <a:avLst/>
            <a:gdLst/>
            <a:ahLst/>
            <a:cxnLst/>
            <a:rect l="l" t="t" r="r" b="b"/>
            <a:pathLst>
              <a:path w="1355460" h="2914968">
                <a:moveTo>
                  <a:pt x="0" y="0"/>
                </a:moveTo>
                <a:lnTo>
                  <a:pt x="1355460" y="0"/>
                </a:lnTo>
                <a:lnTo>
                  <a:pt x="1355460" y="2914968"/>
                </a:lnTo>
                <a:lnTo>
                  <a:pt x="0" y="2914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565324" y="133816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9"/>
                </a:moveTo>
                <a:lnTo>
                  <a:pt x="0" y="3229509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81214">
            <a:off x="-167688" y="-732027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571621">
            <a:off x="15399332" y="4910130"/>
            <a:ext cx="4044559" cy="5168765"/>
          </a:xfrm>
          <a:custGeom>
            <a:avLst/>
            <a:gdLst/>
            <a:ahLst/>
            <a:cxnLst/>
            <a:rect l="l" t="t" r="r" b="b"/>
            <a:pathLst>
              <a:path w="4044559" h="5168765">
                <a:moveTo>
                  <a:pt x="0" y="0"/>
                </a:moveTo>
                <a:lnTo>
                  <a:pt x="4044558" y="0"/>
                </a:lnTo>
                <a:lnTo>
                  <a:pt x="4044558" y="5168765"/>
                </a:lnTo>
                <a:lnTo>
                  <a:pt x="0" y="516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8182" y="1414364"/>
            <a:ext cx="1399207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spc="179">
                <a:solidFill>
                  <a:srgbClr val="482B76"/>
                </a:solidFill>
                <a:latin typeface="Droid Serif"/>
                <a:ea typeface="Droid Serif"/>
                <a:cs typeface="Droid Serif"/>
                <a:sym typeface="Droid Serif"/>
              </a:rPr>
              <a:t>Kesimpulan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427178" y="3374497"/>
            <a:ext cx="13433644" cy="5581708"/>
            <a:chOff x="0" y="0"/>
            <a:chExt cx="2692132" cy="11185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92132" cy="1118587"/>
            </a:xfrm>
            <a:custGeom>
              <a:avLst/>
              <a:gdLst/>
              <a:ahLst/>
              <a:cxnLst/>
              <a:rect l="l" t="t" r="r" b="b"/>
              <a:pathLst>
                <a:path w="2692132" h="1118587">
                  <a:moveTo>
                    <a:pt x="39189" y="0"/>
                  </a:moveTo>
                  <a:lnTo>
                    <a:pt x="2652943" y="0"/>
                  </a:lnTo>
                  <a:cubicBezTo>
                    <a:pt x="2663336" y="0"/>
                    <a:pt x="2673304" y="4129"/>
                    <a:pt x="2680653" y="11478"/>
                  </a:cubicBezTo>
                  <a:cubicBezTo>
                    <a:pt x="2688003" y="18828"/>
                    <a:pt x="2692132" y="28795"/>
                    <a:pt x="2692132" y="39189"/>
                  </a:cubicBezTo>
                  <a:lnTo>
                    <a:pt x="2692132" y="1079398"/>
                  </a:lnTo>
                  <a:cubicBezTo>
                    <a:pt x="2692132" y="1089791"/>
                    <a:pt x="2688003" y="1099759"/>
                    <a:pt x="2680653" y="1107108"/>
                  </a:cubicBezTo>
                  <a:cubicBezTo>
                    <a:pt x="2673304" y="1114458"/>
                    <a:pt x="2663336" y="1118587"/>
                    <a:pt x="2652943" y="1118587"/>
                  </a:cubicBezTo>
                  <a:lnTo>
                    <a:pt x="39189" y="1118587"/>
                  </a:lnTo>
                  <a:cubicBezTo>
                    <a:pt x="28795" y="1118587"/>
                    <a:pt x="18828" y="1114458"/>
                    <a:pt x="11478" y="1107108"/>
                  </a:cubicBezTo>
                  <a:cubicBezTo>
                    <a:pt x="4129" y="1099759"/>
                    <a:pt x="0" y="1089791"/>
                    <a:pt x="0" y="1079398"/>
                  </a:cubicBezTo>
                  <a:lnTo>
                    <a:pt x="0" y="39189"/>
                  </a:lnTo>
                  <a:cubicBezTo>
                    <a:pt x="0" y="28795"/>
                    <a:pt x="4129" y="18828"/>
                    <a:pt x="11478" y="11478"/>
                  </a:cubicBezTo>
                  <a:cubicBezTo>
                    <a:pt x="18828" y="4129"/>
                    <a:pt x="28795" y="0"/>
                    <a:pt x="39189" y="0"/>
                  </a:cubicBezTo>
                  <a:close/>
                </a:path>
              </a:pathLst>
            </a:custGeom>
            <a:solidFill>
              <a:srgbClr val="9466AF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92132" cy="116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13720" y="4240899"/>
            <a:ext cx="12101003" cy="325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5" lvl="1" indent="-367027" algn="l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Model berhasil mencapai akurasi 97.62%</a:t>
            </a:r>
          </a:p>
          <a:p>
            <a:pPr marL="734055" lvl="1" indent="-367027" algn="l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Kombinasi HSV + GLCM sangat efektif</a:t>
            </a:r>
          </a:p>
          <a:p>
            <a:pPr marL="734055" lvl="1" indent="-367027" algn="l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SVM mampu mengklasifikasikan dengan baik</a:t>
            </a:r>
          </a:p>
          <a:p>
            <a:pPr algn="l">
              <a:lnSpc>
                <a:spcPts val="5235"/>
              </a:lnSpc>
            </a:pPr>
            <a:r>
              <a:rPr lang="en-US" sz="3399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Metode ini dapat dikembangkan untuk sistem deteksi penyakit tanaman secara real-time.</a:t>
            </a:r>
          </a:p>
        </p:txBody>
      </p:sp>
      <p:sp>
        <p:nvSpPr>
          <p:cNvPr id="14" name="Freeform 14"/>
          <p:cNvSpPr/>
          <p:nvPr/>
        </p:nvSpPr>
        <p:spPr>
          <a:xfrm rot="-2700000" flipH="1">
            <a:off x="13324443" y="8276706"/>
            <a:ext cx="3562322" cy="2529249"/>
          </a:xfrm>
          <a:custGeom>
            <a:avLst/>
            <a:gdLst/>
            <a:ahLst/>
            <a:cxnLst/>
            <a:rect l="l" t="t" r="r" b="b"/>
            <a:pathLst>
              <a:path w="3562322" h="2529249">
                <a:moveTo>
                  <a:pt x="3562323" y="0"/>
                </a:moveTo>
                <a:lnTo>
                  <a:pt x="0" y="0"/>
                </a:lnTo>
                <a:lnTo>
                  <a:pt x="0" y="2529249"/>
                </a:lnTo>
                <a:lnTo>
                  <a:pt x="3562323" y="2529249"/>
                </a:lnTo>
                <a:lnTo>
                  <a:pt x="35623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C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131" y="2729350"/>
            <a:ext cx="17369738" cy="4814986"/>
            <a:chOff x="0" y="0"/>
            <a:chExt cx="4574746" cy="12681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4746" cy="1268145"/>
            </a:xfrm>
            <a:custGeom>
              <a:avLst/>
              <a:gdLst/>
              <a:ahLst/>
              <a:cxnLst/>
              <a:rect l="l" t="t" r="r" b="b"/>
              <a:pathLst>
                <a:path w="4574746" h="1268145">
                  <a:moveTo>
                    <a:pt x="22731" y="0"/>
                  </a:moveTo>
                  <a:lnTo>
                    <a:pt x="4552015" y="0"/>
                  </a:lnTo>
                  <a:cubicBezTo>
                    <a:pt x="4564569" y="0"/>
                    <a:pt x="4574746" y="10177"/>
                    <a:pt x="4574746" y="22731"/>
                  </a:cubicBezTo>
                  <a:lnTo>
                    <a:pt x="4574746" y="1245413"/>
                  </a:lnTo>
                  <a:cubicBezTo>
                    <a:pt x="4574746" y="1257967"/>
                    <a:pt x="4564569" y="1268145"/>
                    <a:pt x="4552015" y="1268145"/>
                  </a:cubicBezTo>
                  <a:lnTo>
                    <a:pt x="22731" y="1268145"/>
                  </a:lnTo>
                  <a:cubicBezTo>
                    <a:pt x="10177" y="1268145"/>
                    <a:pt x="0" y="1257967"/>
                    <a:pt x="0" y="1245413"/>
                  </a:cubicBezTo>
                  <a:lnTo>
                    <a:pt x="0" y="22731"/>
                  </a:lnTo>
                  <a:cubicBezTo>
                    <a:pt x="0" y="10177"/>
                    <a:pt x="10177" y="0"/>
                    <a:pt x="22731" y="0"/>
                  </a:cubicBezTo>
                  <a:close/>
                </a:path>
              </a:pathLst>
            </a:custGeom>
            <a:solidFill>
              <a:srgbClr val="9466A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74746" cy="1315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38583" y="1521915"/>
            <a:ext cx="1854002" cy="3987102"/>
          </a:xfrm>
          <a:custGeom>
            <a:avLst/>
            <a:gdLst/>
            <a:ahLst/>
            <a:cxnLst/>
            <a:rect l="l" t="t" r="r" b="b"/>
            <a:pathLst>
              <a:path w="1854002" h="3987102">
                <a:moveTo>
                  <a:pt x="0" y="0"/>
                </a:moveTo>
                <a:lnTo>
                  <a:pt x="1854003" y="0"/>
                </a:lnTo>
                <a:lnTo>
                  <a:pt x="1854003" y="3987103"/>
                </a:lnTo>
                <a:lnTo>
                  <a:pt x="0" y="3987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67979" flipH="1">
            <a:off x="-560813" y="-1373365"/>
            <a:ext cx="3179025" cy="2257108"/>
          </a:xfrm>
          <a:custGeom>
            <a:avLst/>
            <a:gdLst/>
            <a:ahLst/>
            <a:cxnLst/>
            <a:rect l="l" t="t" r="r" b="b"/>
            <a:pathLst>
              <a:path w="3179025" h="2257108">
                <a:moveTo>
                  <a:pt x="3179026" y="0"/>
                </a:moveTo>
                <a:lnTo>
                  <a:pt x="0" y="0"/>
                </a:lnTo>
                <a:lnTo>
                  <a:pt x="0" y="2257108"/>
                </a:lnTo>
                <a:lnTo>
                  <a:pt x="3179026" y="2257108"/>
                </a:lnTo>
                <a:lnTo>
                  <a:pt x="317902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11578">
            <a:off x="-453060" y="-541898"/>
            <a:ext cx="2605817" cy="5603908"/>
          </a:xfrm>
          <a:custGeom>
            <a:avLst/>
            <a:gdLst/>
            <a:ahLst/>
            <a:cxnLst/>
            <a:rect l="l" t="t" r="r" b="b"/>
            <a:pathLst>
              <a:path w="2605817" h="5603908">
                <a:moveTo>
                  <a:pt x="0" y="0"/>
                </a:moveTo>
                <a:lnTo>
                  <a:pt x="2605818" y="0"/>
                </a:lnTo>
                <a:lnTo>
                  <a:pt x="2605818" y="5603909"/>
                </a:lnTo>
                <a:lnTo>
                  <a:pt x="0" y="5603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218246" flipH="1">
            <a:off x="13123378" y="2540290"/>
            <a:ext cx="2395873" cy="1701070"/>
          </a:xfrm>
          <a:custGeom>
            <a:avLst/>
            <a:gdLst/>
            <a:ahLst/>
            <a:cxnLst/>
            <a:rect l="l" t="t" r="r" b="b"/>
            <a:pathLst>
              <a:path w="2395873" h="1701070">
                <a:moveTo>
                  <a:pt x="2395873" y="0"/>
                </a:moveTo>
                <a:lnTo>
                  <a:pt x="0" y="0"/>
                </a:lnTo>
                <a:lnTo>
                  <a:pt x="0" y="1701070"/>
                </a:lnTo>
                <a:lnTo>
                  <a:pt x="2395873" y="1701070"/>
                </a:lnTo>
                <a:lnTo>
                  <a:pt x="239587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3970422" y="-586054"/>
            <a:ext cx="2527090" cy="3229508"/>
          </a:xfrm>
          <a:custGeom>
            <a:avLst/>
            <a:gdLst/>
            <a:ahLst/>
            <a:cxnLst/>
            <a:rect l="l" t="t" r="r" b="b"/>
            <a:pathLst>
              <a:path w="2527090" h="3229508">
                <a:moveTo>
                  <a:pt x="2527090" y="3229508"/>
                </a:moveTo>
                <a:lnTo>
                  <a:pt x="0" y="3229508"/>
                </a:lnTo>
                <a:lnTo>
                  <a:pt x="0" y="0"/>
                </a:lnTo>
                <a:lnTo>
                  <a:pt x="2527090" y="0"/>
                </a:lnTo>
                <a:lnTo>
                  <a:pt x="2527090" y="322950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03607">
            <a:off x="12195406" y="7189648"/>
            <a:ext cx="1396763" cy="991702"/>
          </a:xfrm>
          <a:custGeom>
            <a:avLst/>
            <a:gdLst/>
            <a:ahLst/>
            <a:cxnLst/>
            <a:rect l="l" t="t" r="r" b="b"/>
            <a:pathLst>
              <a:path w="1396763" h="991702">
                <a:moveTo>
                  <a:pt x="0" y="0"/>
                </a:moveTo>
                <a:lnTo>
                  <a:pt x="1396764" y="0"/>
                </a:lnTo>
                <a:lnTo>
                  <a:pt x="1396764" y="991702"/>
                </a:lnTo>
                <a:lnTo>
                  <a:pt x="0" y="991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27974">
            <a:off x="7689163" y="36874"/>
            <a:ext cx="2392776" cy="1698871"/>
          </a:xfrm>
          <a:custGeom>
            <a:avLst/>
            <a:gdLst/>
            <a:ahLst/>
            <a:cxnLst/>
            <a:rect l="l" t="t" r="r" b="b"/>
            <a:pathLst>
              <a:path w="2392776" h="1698871">
                <a:moveTo>
                  <a:pt x="0" y="0"/>
                </a:moveTo>
                <a:lnTo>
                  <a:pt x="2392776" y="0"/>
                </a:lnTo>
                <a:lnTo>
                  <a:pt x="2392776" y="1698871"/>
                </a:lnTo>
                <a:lnTo>
                  <a:pt x="0" y="1698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764828">
            <a:off x="16490515" y="14620"/>
            <a:ext cx="2676708" cy="1900463"/>
          </a:xfrm>
          <a:custGeom>
            <a:avLst/>
            <a:gdLst/>
            <a:ahLst/>
            <a:cxnLst/>
            <a:rect l="l" t="t" r="r" b="b"/>
            <a:pathLst>
              <a:path w="2676708" h="1900463">
                <a:moveTo>
                  <a:pt x="0" y="0"/>
                </a:moveTo>
                <a:lnTo>
                  <a:pt x="2676708" y="0"/>
                </a:lnTo>
                <a:lnTo>
                  <a:pt x="2676708" y="1900463"/>
                </a:lnTo>
                <a:lnTo>
                  <a:pt x="0" y="1900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292932" flipV="1">
            <a:off x="1992617" y="-520175"/>
            <a:ext cx="1808064" cy="2310624"/>
          </a:xfrm>
          <a:custGeom>
            <a:avLst/>
            <a:gdLst/>
            <a:ahLst/>
            <a:cxnLst/>
            <a:rect l="l" t="t" r="r" b="b"/>
            <a:pathLst>
              <a:path w="1808064" h="2310624">
                <a:moveTo>
                  <a:pt x="0" y="2310624"/>
                </a:moveTo>
                <a:lnTo>
                  <a:pt x="1808064" y="2310624"/>
                </a:lnTo>
                <a:lnTo>
                  <a:pt x="1808064" y="0"/>
                </a:lnTo>
                <a:lnTo>
                  <a:pt x="0" y="0"/>
                </a:lnTo>
                <a:lnTo>
                  <a:pt x="0" y="231062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532683" flipH="1">
            <a:off x="4944437" y="5431547"/>
            <a:ext cx="3016939" cy="2142026"/>
          </a:xfrm>
          <a:custGeom>
            <a:avLst/>
            <a:gdLst/>
            <a:ahLst/>
            <a:cxnLst/>
            <a:rect l="l" t="t" r="r" b="b"/>
            <a:pathLst>
              <a:path w="3016939" h="2142026">
                <a:moveTo>
                  <a:pt x="3016938" y="0"/>
                </a:moveTo>
                <a:lnTo>
                  <a:pt x="0" y="0"/>
                </a:lnTo>
                <a:lnTo>
                  <a:pt x="0" y="2142027"/>
                </a:lnTo>
                <a:lnTo>
                  <a:pt x="3016938" y="2142027"/>
                </a:lnTo>
                <a:lnTo>
                  <a:pt x="301693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884615" y="3667867"/>
            <a:ext cx="12518769" cy="310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99"/>
              </a:lnSpc>
            </a:pPr>
            <a:r>
              <a:rPr lang="en-US" sz="21415">
                <a:solidFill>
                  <a:srgbClr val="FFFFFF"/>
                </a:solidFill>
                <a:latin typeface="Pony Club"/>
                <a:ea typeface="Pony Club"/>
                <a:cs typeface="Pony Club"/>
                <a:sym typeface="Pony Club"/>
              </a:rPr>
              <a:t>Thank You</a:t>
            </a:r>
          </a:p>
        </p:txBody>
      </p:sp>
      <p:sp>
        <p:nvSpPr>
          <p:cNvPr id="16" name="Freeform 16"/>
          <p:cNvSpPr/>
          <p:nvPr/>
        </p:nvSpPr>
        <p:spPr>
          <a:xfrm rot="1333477" flipH="1">
            <a:off x="30458" y="5272180"/>
            <a:ext cx="4519249" cy="5775398"/>
          </a:xfrm>
          <a:custGeom>
            <a:avLst/>
            <a:gdLst/>
            <a:ahLst/>
            <a:cxnLst/>
            <a:rect l="l" t="t" r="r" b="b"/>
            <a:pathLst>
              <a:path w="4519249" h="5775398">
                <a:moveTo>
                  <a:pt x="4519249" y="0"/>
                </a:moveTo>
                <a:lnTo>
                  <a:pt x="0" y="0"/>
                </a:lnTo>
                <a:lnTo>
                  <a:pt x="0" y="5775397"/>
                </a:lnTo>
                <a:lnTo>
                  <a:pt x="4519249" y="5775397"/>
                </a:lnTo>
                <a:lnTo>
                  <a:pt x="451924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571621">
            <a:off x="14382789" y="6446410"/>
            <a:ext cx="2972517" cy="3798743"/>
          </a:xfrm>
          <a:custGeom>
            <a:avLst/>
            <a:gdLst/>
            <a:ahLst/>
            <a:cxnLst/>
            <a:rect l="l" t="t" r="r" b="b"/>
            <a:pathLst>
              <a:path w="2972517" h="3798743">
                <a:moveTo>
                  <a:pt x="0" y="0"/>
                </a:moveTo>
                <a:lnTo>
                  <a:pt x="2972516" y="0"/>
                </a:lnTo>
                <a:lnTo>
                  <a:pt x="2972516" y="3798743"/>
                </a:lnTo>
                <a:lnTo>
                  <a:pt x="0" y="379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1362</Words>
  <Application>Microsoft Office PowerPoint</Application>
  <PresentationFormat>Custom</PresentationFormat>
  <Paragraphs>245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Droid Serif</vt:lpstr>
      <vt:lpstr>Calibri</vt:lpstr>
      <vt:lpstr>Droid Serif Bold</vt:lpstr>
      <vt:lpstr>Pony Club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Klasifikasi Penyakit Daun Anggur Menggunakan Support Vector Machine (SVM) Berbasis Fitur Warna HSV dan Tekstur GLCM</dc:title>
  <cp:lastModifiedBy>Khoirotun Nisa</cp:lastModifiedBy>
  <cp:revision>4</cp:revision>
  <dcterms:created xsi:type="dcterms:W3CDTF">2006-08-16T00:00:00Z</dcterms:created>
  <dcterms:modified xsi:type="dcterms:W3CDTF">2026-04-25T07:53:50Z</dcterms:modified>
  <dc:identifier>DAHHu1MDEYY</dc:identifier>
</cp:coreProperties>
</file>